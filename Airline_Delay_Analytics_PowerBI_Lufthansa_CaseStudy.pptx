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25"/>
  </p:notesMasterIdLst>
  <p:sldIdLst>
    <p:sldId id="289" r:id="rId2"/>
    <p:sldId id="257" r:id="rId3"/>
    <p:sldId id="256" r:id="rId4"/>
    <p:sldId id="290" r:id="rId5"/>
    <p:sldId id="291" r:id="rId6"/>
    <p:sldId id="292" r:id="rId7"/>
    <p:sldId id="303" r:id="rId8"/>
    <p:sldId id="304" r:id="rId9"/>
    <p:sldId id="305" r:id="rId10"/>
    <p:sldId id="306" r:id="rId11"/>
    <p:sldId id="307" r:id="rId12"/>
    <p:sldId id="293" r:id="rId13"/>
    <p:sldId id="301" r:id="rId14"/>
    <p:sldId id="302" r:id="rId15"/>
    <p:sldId id="294" r:id="rId16"/>
    <p:sldId id="295" r:id="rId17"/>
    <p:sldId id="296" r:id="rId18"/>
    <p:sldId id="298" r:id="rId19"/>
    <p:sldId id="297" r:id="rId20"/>
    <p:sldId id="299" r:id="rId21"/>
    <p:sldId id="300" r:id="rId22"/>
    <p:sldId id="308" r:id="rId23"/>
    <p:sldId id="309" r:id="rId24"/>
  </p:sldIdLst>
  <p:sldSz cx="12192000" cy="6858000"/>
  <p:notesSz cx="6858000" cy="9144000"/>
  <p:defaultTextStyle>
    <a:defPPr>
      <a:defRPr lang="en-A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1" d="100"/>
          <a:sy n="101" d="100"/>
        </p:scale>
        <p:origin x="99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9AB7D-7ABF-41A4-BCEC-444E811F54FF}" type="datetimeFigureOut">
              <a:rPr lang="en-AT" smtClean="0"/>
              <a:t>06/01/2026</a:t>
            </a:fld>
            <a:endParaRPr lang="en-A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60E8E8-C5D0-4416-A15C-9F0D24D32C17}" type="slidenum">
              <a:rPr lang="en-AT" smtClean="0"/>
              <a:t>‹#›</a:t>
            </a:fld>
            <a:endParaRPr lang="en-AT"/>
          </a:p>
        </p:txBody>
      </p:sp>
    </p:spTree>
    <p:extLst>
      <p:ext uri="{BB962C8B-B14F-4D97-AF65-F5344CB8AC3E}">
        <p14:creationId xmlns:p14="http://schemas.microsoft.com/office/powerpoint/2010/main" val="1800033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a:t>
            </a:fld>
            <a:endParaRPr lang="en-US"/>
          </a:p>
        </p:txBody>
      </p:sp>
    </p:spTree>
    <p:extLst>
      <p:ext uri="{BB962C8B-B14F-4D97-AF65-F5344CB8AC3E}">
        <p14:creationId xmlns:p14="http://schemas.microsoft.com/office/powerpoint/2010/main" val="695444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T" dirty="0"/>
          </a:p>
        </p:txBody>
      </p:sp>
      <p:sp>
        <p:nvSpPr>
          <p:cNvPr id="4" name="Slide Number Placeholder 3"/>
          <p:cNvSpPr>
            <a:spLocks noGrp="1"/>
          </p:cNvSpPr>
          <p:nvPr>
            <p:ph type="sldNum" sz="quarter" idx="5"/>
          </p:nvPr>
        </p:nvSpPr>
        <p:spPr/>
        <p:txBody>
          <a:bodyPr/>
          <a:lstStyle/>
          <a:p>
            <a:fld id="{3B60E8E8-C5D0-4416-A15C-9F0D24D32C17}" type="slidenum">
              <a:rPr lang="en-AT" smtClean="0"/>
              <a:t>8</a:t>
            </a:fld>
            <a:endParaRPr lang="en-AT"/>
          </a:p>
        </p:txBody>
      </p:sp>
    </p:spTree>
    <p:extLst>
      <p:ext uri="{BB962C8B-B14F-4D97-AF65-F5344CB8AC3E}">
        <p14:creationId xmlns:p14="http://schemas.microsoft.com/office/powerpoint/2010/main" val="3980801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CE5A9-9AB1-2762-6436-FEDC5F34BA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T"/>
          </a:p>
        </p:txBody>
      </p:sp>
      <p:sp>
        <p:nvSpPr>
          <p:cNvPr id="3" name="Subtitle 2">
            <a:extLst>
              <a:ext uri="{FF2B5EF4-FFF2-40B4-BE49-F238E27FC236}">
                <a16:creationId xmlns:a16="http://schemas.microsoft.com/office/drawing/2014/main" id="{F8B79A78-29E7-6662-98EB-0C90DB62DB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T"/>
          </a:p>
        </p:txBody>
      </p:sp>
      <p:sp>
        <p:nvSpPr>
          <p:cNvPr id="4" name="Date Placeholder 3">
            <a:extLst>
              <a:ext uri="{FF2B5EF4-FFF2-40B4-BE49-F238E27FC236}">
                <a16:creationId xmlns:a16="http://schemas.microsoft.com/office/drawing/2014/main" id="{9B3A8C1D-F59A-BFF7-1D56-F8E1205CE7A6}"/>
              </a:ext>
            </a:extLst>
          </p:cNvPr>
          <p:cNvSpPr>
            <a:spLocks noGrp="1"/>
          </p:cNvSpPr>
          <p:nvPr>
            <p:ph type="dt" sz="half" idx="10"/>
          </p:nvPr>
        </p:nvSpPr>
        <p:spPr/>
        <p:txBody>
          <a:bodyPr/>
          <a:lstStyle/>
          <a:p>
            <a:fld id="{2457C9B7-8561-41F9-B542-CF903FD984F3}" type="datetimeFigureOut">
              <a:rPr lang="en-AT" smtClean="0"/>
              <a:t>06/01/2026</a:t>
            </a:fld>
            <a:endParaRPr lang="en-AT"/>
          </a:p>
        </p:txBody>
      </p:sp>
      <p:sp>
        <p:nvSpPr>
          <p:cNvPr id="5" name="Footer Placeholder 4">
            <a:extLst>
              <a:ext uri="{FF2B5EF4-FFF2-40B4-BE49-F238E27FC236}">
                <a16:creationId xmlns:a16="http://schemas.microsoft.com/office/drawing/2014/main" id="{C407C2B6-5F20-0D1F-EF37-2B3C8B4E8F80}"/>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DD3A9BF7-5492-02ED-CE99-497728E4E2D8}"/>
              </a:ext>
            </a:extLst>
          </p:cNvPr>
          <p:cNvSpPr>
            <a:spLocks noGrp="1"/>
          </p:cNvSpPr>
          <p:nvPr>
            <p:ph type="sldNum" sz="quarter" idx="12"/>
          </p:nvPr>
        </p:nvSpPr>
        <p:spPr/>
        <p:txBody>
          <a:bodyPr/>
          <a:lstStyle/>
          <a:p>
            <a:fld id="{5873EA1B-694F-4EE0-AA89-56E07FF9B60D}" type="slidenum">
              <a:rPr lang="en-AT" smtClean="0"/>
              <a:t>‹#›</a:t>
            </a:fld>
            <a:endParaRPr lang="en-AT"/>
          </a:p>
        </p:txBody>
      </p:sp>
    </p:spTree>
    <p:extLst>
      <p:ext uri="{BB962C8B-B14F-4D97-AF65-F5344CB8AC3E}">
        <p14:creationId xmlns:p14="http://schemas.microsoft.com/office/powerpoint/2010/main" val="4110898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8C05B-DAD8-6679-AA7E-0DD2F4E092BF}"/>
              </a:ext>
            </a:extLst>
          </p:cNvPr>
          <p:cNvSpPr>
            <a:spLocks noGrp="1"/>
          </p:cNvSpPr>
          <p:nvPr>
            <p:ph type="title"/>
          </p:nvPr>
        </p:nvSpPr>
        <p:spPr/>
        <p:txBody>
          <a:bodyPr/>
          <a:lstStyle/>
          <a:p>
            <a:r>
              <a:rPr lang="en-US"/>
              <a:t>Click to edit Master title style</a:t>
            </a:r>
            <a:endParaRPr lang="en-AT"/>
          </a:p>
        </p:txBody>
      </p:sp>
      <p:sp>
        <p:nvSpPr>
          <p:cNvPr id="3" name="Content Placeholder 2">
            <a:extLst>
              <a:ext uri="{FF2B5EF4-FFF2-40B4-BE49-F238E27FC236}">
                <a16:creationId xmlns:a16="http://schemas.microsoft.com/office/drawing/2014/main" id="{AD5DABB5-687F-7509-B3F8-A90D3B6D50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Date Placeholder 3">
            <a:extLst>
              <a:ext uri="{FF2B5EF4-FFF2-40B4-BE49-F238E27FC236}">
                <a16:creationId xmlns:a16="http://schemas.microsoft.com/office/drawing/2014/main" id="{51E040DF-6E5B-D77E-648E-106476274866}"/>
              </a:ext>
            </a:extLst>
          </p:cNvPr>
          <p:cNvSpPr>
            <a:spLocks noGrp="1"/>
          </p:cNvSpPr>
          <p:nvPr>
            <p:ph type="dt" sz="half" idx="10"/>
          </p:nvPr>
        </p:nvSpPr>
        <p:spPr/>
        <p:txBody>
          <a:bodyPr/>
          <a:lstStyle/>
          <a:p>
            <a:fld id="{2457C9B7-8561-41F9-B542-CF903FD984F3}" type="datetimeFigureOut">
              <a:rPr lang="en-AT" smtClean="0"/>
              <a:t>06/01/2026</a:t>
            </a:fld>
            <a:endParaRPr lang="en-AT"/>
          </a:p>
        </p:txBody>
      </p:sp>
      <p:sp>
        <p:nvSpPr>
          <p:cNvPr id="5" name="Footer Placeholder 4">
            <a:extLst>
              <a:ext uri="{FF2B5EF4-FFF2-40B4-BE49-F238E27FC236}">
                <a16:creationId xmlns:a16="http://schemas.microsoft.com/office/drawing/2014/main" id="{42DEE627-E12B-98AC-8AD2-6DC6DDF29EF5}"/>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738F46AA-E8C7-4F14-21DC-10DA1753864A}"/>
              </a:ext>
            </a:extLst>
          </p:cNvPr>
          <p:cNvSpPr>
            <a:spLocks noGrp="1"/>
          </p:cNvSpPr>
          <p:nvPr>
            <p:ph type="sldNum" sz="quarter" idx="12"/>
          </p:nvPr>
        </p:nvSpPr>
        <p:spPr/>
        <p:txBody>
          <a:bodyPr/>
          <a:lstStyle/>
          <a:p>
            <a:fld id="{5873EA1B-694F-4EE0-AA89-56E07FF9B60D}" type="slidenum">
              <a:rPr lang="en-AT" smtClean="0"/>
              <a:t>‹#›</a:t>
            </a:fld>
            <a:endParaRPr lang="en-AT"/>
          </a:p>
        </p:txBody>
      </p:sp>
    </p:spTree>
    <p:extLst>
      <p:ext uri="{BB962C8B-B14F-4D97-AF65-F5344CB8AC3E}">
        <p14:creationId xmlns:p14="http://schemas.microsoft.com/office/powerpoint/2010/main" val="3348389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339A3-BCB2-5719-17D4-EE3FF3B6D1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T"/>
          </a:p>
        </p:txBody>
      </p:sp>
      <p:sp>
        <p:nvSpPr>
          <p:cNvPr id="3" name="Text Placeholder 2">
            <a:extLst>
              <a:ext uri="{FF2B5EF4-FFF2-40B4-BE49-F238E27FC236}">
                <a16:creationId xmlns:a16="http://schemas.microsoft.com/office/drawing/2014/main" id="{286360C5-7673-1643-C5D4-B68A8990FD9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A5365C-92E4-5F40-8C81-C905B90EBDC4}"/>
              </a:ext>
            </a:extLst>
          </p:cNvPr>
          <p:cNvSpPr>
            <a:spLocks noGrp="1"/>
          </p:cNvSpPr>
          <p:nvPr>
            <p:ph type="dt" sz="half" idx="10"/>
          </p:nvPr>
        </p:nvSpPr>
        <p:spPr/>
        <p:txBody>
          <a:bodyPr/>
          <a:lstStyle/>
          <a:p>
            <a:fld id="{2457C9B7-8561-41F9-B542-CF903FD984F3}" type="datetimeFigureOut">
              <a:rPr lang="en-AT" smtClean="0"/>
              <a:t>06/01/2026</a:t>
            </a:fld>
            <a:endParaRPr lang="en-AT"/>
          </a:p>
        </p:txBody>
      </p:sp>
      <p:sp>
        <p:nvSpPr>
          <p:cNvPr id="5" name="Footer Placeholder 4">
            <a:extLst>
              <a:ext uri="{FF2B5EF4-FFF2-40B4-BE49-F238E27FC236}">
                <a16:creationId xmlns:a16="http://schemas.microsoft.com/office/drawing/2014/main" id="{6BA508FB-2F0A-1979-700E-1BF7AEA56C56}"/>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0133EC3C-7DF0-628D-2883-B5424AF2D2E0}"/>
              </a:ext>
            </a:extLst>
          </p:cNvPr>
          <p:cNvSpPr>
            <a:spLocks noGrp="1"/>
          </p:cNvSpPr>
          <p:nvPr>
            <p:ph type="sldNum" sz="quarter" idx="12"/>
          </p:nvPr>
        </p:nvSpPr>
        <p:spPr/>
        <p:txBody>
          <a:bodyPr/>
          <a:lstStyle/>
          <a:p>
            <a:fld id="{5873EA1B-694F-4EE0-AA89-56E07FF9B60D}" type="slidenum">
              <a:rPr lang="en-AT" smtClean="0"/>
              <a:t>‹#›</a:t>
            </a:fld>
            <a:endParaRPr lang="en-AT"/>
          </a:p>
        </p:txBody>
      </p:sp>
    </p:spTree>
    <p:extLst>
      <p:ext uri="{BB962C8B-B14F-4D97-AF65-F5344CB8AC3E}">
        <p14:creationId xmlns:p14="http://schemas.microsoft.com/office/powerpoint/2010/main" val="7561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23ED3-532D-2B77-97F0-EB3C62A452CC}"/>
              </a:ext>
            </a:extLst>
          </p:cNvPr>
          <p:cNvSpPr>
            <a:spLocks noGrp="1"/>
          </p:cNvSpPr>
          <p:nvPr>
            <p:ph type="title"/>
          </p:nvPr>
        </p:nvSpPr>
        <p:spPr/>
        <p:txBody>
          <a:bodyPr/>
          <a:lstStyle/>
          <a:p>
            <a:r>
              <a:rPr lang="en-US"/>
              <a:t>Click to edit Master title style</a:t>
            </a:r>
            <a:endParaRPr lang="en-AT"/>
          </a:p>
        </p:txBody>
      </p:sp>
      <p:sp>
        <p:nvSpPr>
          <p:cNvPr id="3" name="Content Placeholder 2">
            <a:extLst>
              <a:ext uri="{FF2B5EF4-FFF2-40B4-BE49-F238E27FC236}">
                <a16:creationId xmlns:a16="http://schemas.microsoft.com/office/drawing/2014/main" id="{F4A06A70-D759-8E03-8B1E-61A818D998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Content Placeholder 3">
            <a:extLst>
              <a:ext uri="{FF2B5EF4-FFF2-40B4-BE49-F238E27FC236}">
                <a16:creationId xmlns:a16="http://schemas.microsoft.com/office/drawing/2014/main" id="{6A6B7D2A-4A6C-1977-F6F6-99AEB42F32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5" name="Date Placeholder 4">
            <a:extLst>
              <a:ext uri="{FF2B5EF4-FFF2-40B4-BE49-F238E27FC236}">
                <a16:creationId xmlns:a16="http://schemas.microsoft.com/office/drawing/2014/main" id="{B3A78E33-929D-3F29-900B-926A952DE9A0}"/>
              </a:ext>
            </a:extLst>
          </p:cNvPr>
          <p:cNvSpPr>
            <a:spLocks noGrp="1"/>
          </p:cNvSpPr>
          <p:nvPr>
            <p:ph type="dt" sz="half" idx="10"/>
          </p:nvPr>
        </p:nvSpPr>
        <p:spPr/>
        <p:txBody>
          <a:bodyPr/>
          <a:lstStyle/>
          <a:p>
            <a:fld id="{2457C9B7-8561-41F9-B542-CF903FD984F3}" type="datetimeFigureOut">
              <a:rPr lang="en-AT" smtClean="0"/>
              <a:t>06/01/2026</a:t>
            </a:fld>
            <a:endParaRPr lang="en-AT"/>
          </a:p>
        </p:txBody>
      </p:sp>
      <p:sp>
        <p:nvSpPr>
          <p:cNvPr id="6" name="Footer Placeholder 5">
            <a:extLst>
              <a:ext uri="{FF2B5EF4-FFF2-40B4-BE49-F238E27FC236}">
                <a16:creationId xmlns:a16="http://schemas.microsoft.com/office/drawing/2014/main" id="{6FE6369E-43CC-0D29-F7FF-B731F0326709}"/>
              </a:ext>
            </a:extLst>
          </p:cNvPr>
          <p:cNvSpPr>
            <a:spLocks noGrp="1"/>
          </p:cNvSpPr>
          <p:nvPr>
            <p:ph type="ftr" sz="quarter" idx="11"/>
          </p:nvPr>
        </p:nvSpPr>
        <p:spPr/>
        <p:txBody>
          <a:bodyPr/>
          <a:lstStyle/>
          <a:p>
            <a:endParaRPr lang="en-AT"/>
          </a:p>
        </p:txBody>
      </p:sp>
      <p:sp>
        <p:nvSpPr>
          <p:cNvPr id="7" name="Slide Number Placeholder 6">
            <a:extLst>
              <a:ext uri="{FF2B5EF4-FFF2-40B4-BE49-F238E27FC236}">
                <a16:creationId xmlns:a16="http://schemas.microsoft.com/office/drawing/2014/main" id="{B99DCE7D-0F61-F035-52BF-A68728177DD7}"/>
              </a:ext>
            </a:extLst>
          </p:cNvPr>
          <p:cNvSpPr>
            <a:spLocks noGrp="1"/>
          </p:cNvSpPr>
          <p:nvPr>
            <p:ph type="sldNum" sz="quarter" idx="12"/>
          </p:nvPr>
        </p:nvSpPr>
        <p:spPr/>
        <p:txBody>
          <a:bodyPr/>
          <a:lstStyle/>
          <a:p>
            <a:fld id="{5873EA1B-694F-4EE0-AA89-56E07FF9B60D}" type="slidenum">
              <a:rPr lang="en-AT" smtClean="0"/>
              <a:t>‹#›</a:t>
            </a:fld>
            <a:endParaRPr lang="en-AT"/>
          </a:p>
        </p:txBody>
      </p:sp>
    </p:spTree>
    <p:extLst>
      <p:ext uri="{BB962C8B-B14F-4D97-AF65-F5344CB8AC3E}">
        <p14:creationId xmlns:p14="http://schemas.microsoft.com/office/powerpoint/2010/main" val="3643843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74237-1901-0EE4-8E20-1545F65E5BF2}"/>
              </a:ext>
            </a:extLst>
          </p:cNvPr>
          <p:cNvSpPr>
            <a:spLocks noGrp="1"/>
          </p:cNvSpPr>
          <p:nvPr>
            <p:ph type="title"/>
          </p:nvPr>
        </p:nvSpPr>
        <p:spPr>
          <a:xfrm>
            <a:off x="839788" y="365125"/>
            <a:ext cx="10515600" cy="1325563"/>
          </a:xfrm>
        </p:spPr>
        <p:txBody>
          <a:bodyPr/>
          <a:lstStyle/>
          <a:p>
            <a:r>
              <a:rPr lang="en-US"/>
              <a:t>Click to edit Master title style</a:t>
            </a:r>
            <a:endParaRPr lang="en-AT"/>
          </a:p>
        </p:txBody>
      </p:sp>
      <p:sp>
        <p:nvSpPr>
          <p:cNvPr id="3" name="Text Placeholder 2">
            <a:extLst>
              <a:ext uri="{FF2B5EF4-FFF2-40B4-BE49-F238E27FC236}">
                <a16:creationId xmlns:a16="http://schemas.microsoft.com/office/drawing/2014/main" id="{6E9B08B4-2A2D-6734-95BA-C1D21AB76B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DF85AE-8AC1-4E1F-C3AC-EC6CABD3D2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5" name="Text Placeholder 4">
            <a:extLst>
              <a:ext uri="{FF2B5EF4-FFF2-40B4-BE49-F238E27FC236}">
                <a16:creationId xmlns:a16="http://schemas.microsoft.com/office/drawing/2014/main" id="{21BD0BF2-FB17-00BA-85E3-83D0D7DD24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238373-67F4-1929-10A6-89B0F705B8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7" name="Date Placeholder 6">
            <a:extLst>
              <a:ext uri="{FF2B5EF4-FFF2-40B4-BE49-F238E27FC236}">
                <a16:creationId xmlns:a16="http://schemas.microsoft.com/office/drawing/2014/main" id="{6F54D927-D123-EC6B-5B0A-A0096AEEF42D}"/>
              </a:ext>
            </a:extLst>
          </p:cNvPr>
          <p:cNvSpPr>
            <a:spLocks noGrp="1"/>
          </p:cNvSpPr>
          <p:nvPr>
            <p:ph type="dt" sz="half" idx="10"/>
          </p:nvPr>
        </p:nvSpPr>
        <p:spPr/>
        <p:txBody>
          <a:bodyPr/>
          <a:lstStyle/>
          <a:p>
            <a:fld id="{2457C9B7-8561-41F9-B542-CF903FD984F3}" type="datetimeFigureOut">
              <a:rPr lang="en-AT" smtClean="0"/>
              <a:t>06/01/2026</a:t>
            </a:fld>
            <a:endParaRPr lang="en-AT"/>
          </a:p>
        </p:txBody>
      </p:sp>
      <p:sp>
        <p:nvSpPr>
          <p:cNvPr id="8" name="Footer Placeholder 7">
            <a:extLst>
              <a:ext uri="{FF2B5EF4-FFF2-40B4-BE49-F238E27FC236}">
                <a16:creationId xmlns:a16="http://schemas.microsoft.com/office/drawing/2014/main" id="{B758B38C-13AD-505D-A499-EEF1DF5BD386}"/>
              </a:ext>
            </a:extLst>
          </p:cNvPr>
          <p:cNvSpPr>
            <a:spLocks noGrp="1"/>
          </p:cNvSpPr>
          <p:nvPr>
            <p:ph type="ftr" sz="quarter" idx="11"/>
          </p:nvPr>
        </p:nvSpPr>
        <p:spPr/>
        <p:txBody>
          <a:bodyPr/>
          <a:lstStyle/>
          <a:p>
            <a:endParaRPr lang="en-AT"/>
          </a:p>
        </p:txBody>
      </p:sp>
      <p:sp>
        <p:nvSpPr>
          <p:cNvPr id="9" name="Slide Number Placeholder 8">
            <a:extLst>
              <a:ext uri="{FF2B5EF4-FFF2-40B4-BE49-F238E27FC236}">
                <a16:creationId xmlns:a16="http://schemas.microsoft.com/office/drawing/2014/main" id="{DE490399-9E23-1224-48EF-C6DE203F6EF7}"/>
              </a:ext>
            </a:extLst>
          </p:cNvPr>
          <p:cNvSpPr>
            <a:spLocks noGrp="1"/>
          </p:cNvSpPr>
          <p:nvPr>
            <p:ph type="sldNum" sz="quarter" idx="12"/>
          </p:nvPr>
        </p:nvSpPr>
        <p:spPr/>
        <p:txBody>
          <a:bodyPr/>
          <a:lstStyle/>
          <a:p>
            <a:fld id="{5873EA1B-694F-4EE0-AA89-56E07FF9B60D}" type="slidenum">
              <a:rPr lang="en-AT" smtClean="0"/>
              <a:t>‹#›</a:t>
            </a:fld>
            <a:endParaRPr lang="en-AT"/>
          </a:p>
        </p:txBody>
      </p:sp>
    </p:spTree>
    <p:extLst>
      <p:ext uri="{BB962C8B-B14F-4D97-AF65-F5344CB8AC3E}">
        <p14:creationId xmlns:p14="http://schemas.microsoft.com/office/powerpoint/2010/main" val="1190679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926CA-F877-4D1C-6B45-471831F6C582}"/>
              </a:ext>
            </a:extLst>
          </p:cNvPr>
          <p:cNvSpPr>
            <a:spLocks noGrp="1"/>
          </p:cNvSpPr>
          <p:nvPr>
            <p:ph type="title"/>
          </p:nvPr>
        </p:nvSpPr>
        <p:spPr/>
        <p:txBody>
          <a:bodyPr/>
          <a:lstStyle/>
          <a:p>
            <a:r>
              <a:rPr lang="en-US"/>
              <a:t>Click to edit Master title style</a:t>
            </a:r>
            <a:endParaRPr lang="en-AT"/>
          </a:p>
        </p:txBody>
      </p:sp>
      <p:sp>
        <p:nvSpPr>
          <p:cNvPr id="3" name="Date Placeholder 2">
            <a:extLst>
              <a:ext uri="{FF2B5EF4-FFF2-40B4-BE49-F238E27FC236}">
                <a16:creationId xmlns:a16="http://schemas.microsoft.com/office/drawing/2014/main" id="{0884BC74-BF18-1D3E-510F-C2CD05170E05}"/>
              </a:ext>
            </a:extLst>
          </p:cNvPr>
          <p:cNvSpPr>
            <a:spLocks noGrp="1"/>
          </p:cNvSpPr>
          <p:nvPr>
            <p:ph type="dt" sz="half" idx="10"/>
          </p:nvPr>
        </p:nvSpPr>
        <p:spPr/>
        <p:txBody>
          <a:bodyPr/>
          <a:lstStyle/>
          <a:p>
            <a:fld id="{2457C9B7-8561-41F9-B542-CF903FD984F3}" type="datetimeFigureOut">
              <a:rPr lang="en-AT" smtClean="0"/>
              <a:t>06/01/2026</a:t>
            </a:fld>
            <a:endParaRPr lang="en-AT"/>
          </a:p>
        </p:txBody>
      </p:sp>
      <p:sp>
        <p:nvSpPr>
          <p:cNvPr id="4" name="Footer Placeholder 3">
            <a:extLst>
              <a:ext uri="{FF2B5EF4-FFF2-40B4-BE49-F238E27FC236}">
                <a16:creationId xmlns:a16="http://schemas.microsoft.com/office/drawing/2014/main" id="{D67675AA-2FE0-273B-6C7D-67D6B3AC8027}"/>
              </a:ext>
            </a:extLst>
          </p:cNvPr>
          <p:cNvSpPr>
            <a:spLocks noGrp="1"/>
          </p:cNvSpPr>
          <p:nvPr>
            <p:ph type="ftr" sz="quarter" idx="11"/>
          </p:nvPr>
        </p:nvSpPr>
        <p:spPr/>
        <p:txBody>
          <a:bodyPr/>
          <a:lstStyle/>
          <a:p>
            <a:endParaRPr lang="en-AT"/>
          </a:p>
        </p:txBody>
      </p:sp>
      <p:sp>
        <p:nvSpPr>
          <p:cNvPr id="5" name="Slide Number Placeholder 4">
            <a:extLst>
              <a:ext uri="{FF2B5EF4-FFF2-40B4-BE49-F238E27FC236}">
                <a16:creationId xmlns:a16="http://schemas.microsoft.com/office/drawing/2014/main" id="{F19B694B-A2C0-17D8-51D5-CFCC50D9E326}"/>
              </a:ext>
            </a:extLst>
          </p:cNvPr>
          <p:cNvSpPr>
            <a:spLocks noGrp="1"/>
          </p:cNvSpPr>
          <p:nvPr>
            <p:ph type="sldNum" sz="quarter" idx="12"/>
          </p:nvPr>
        </p:nvSpPr>
        <p:spPr/>
        <p:txBody>
          <a:bodyPr/>
          <a:lstStyle/>
          <a:p>
            <a:fld id="{5873EA1B-694F-4EE0-AA89-56E07FF9B60D}" type="slidenum">
              <a:rPr lang="en-AT" smtClean="0"/>
              <a:t>‹#›</a:t>
            </a:fld>
            <a:endParaRPr lang="en-AT"/>
          </a:p>
        </p:txBody>
      </p:sp>
    </p:spTree>
    <p:extLst>
      <p:ext uri="{BB962C8B-B14F-4D97-AF65-F5344CB8AC3E}">
        <p14:creationId xmlns:p14="http://schemas.microsoft.com/office/powerpoint/2010/main" val="698774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787DEE-2BD7-A5E9-6899-E21E034C0313}"/>
              </a:ext>
            </a:extLst>
          </p:cNvPr>
          <p:cNvSpPr>
            <a:spLocks noGrp="1"/>
          </p:cNvSpPr>
          <p:nvPr>
            <p:ph type="dt" sz="half" idx="10"/>
          </p:nvPr>
        </p:nvSpPr>
        <p:spPr/>
        <p:txBody>
          <a:bodyPr/>
          <a:lstStyle/>
          <a:p>
            <a:fld id="{2457C9B7-8561-41F9-B542-CF903FD984F3}" type="datetimeFigureOut">
              <a:rPr lang="en-AT" smtClean="0"/>
              <a:t>06/01/2026</a:t>
            </a:fld>
            <a:endParaRPr lang="en-AT"/>
          </a:p>
        </p:txBody>
      </p:sp>
      <p:sp>
        <p:nvSpPr>
          <p:cNvPr id="3" name="Footer Placeholder 2">
            <a:extLst>
              <a:ext uri="{FF2B5EF4-FFF2-40B4-BE49-F238E27FC236}">
                <a16:creationId xmlns:a16="http://schemas.microsoft.com/office/drawing/2014/main" id="{D0CBDCE7-4B45-A643-5589-51A527AE11F2}"/>
              </a:ext>
            </a:extLst>
          </p:cNvPr>
          <p:cNvSpPr>
            <a:spLocks noGrp="1"/>
          </p:cNvSpPr>
          <p:nvPr>
            <p:ph type="ftr" sz="quarter" idx="11"/>
          </p:nvPr>
        </p:nvSpPr>
        <p:spPr/>
        <p:txBody>
          <a:bodyPr/>
          <a:lstStyle/>
          <a:p>
            <a:endParaRPr lang="en-AT"/>
          </a:p>
        </p:txBody>
      </p:sp>
      <p:sp>
        <p:nvSpPr>
          <p:cNvPr id="4" name="Slide Number Placeholder 3">
            <a:extLst>
              <a:ext uri="{FF2B5EF4-FFF2-40B4-BE49-F238E27FC236}">
                <a16:creationId xmlns:a16="http://schemas.microsoft.com/office/drawing/2014/main" id="{7EA49542-7036-1FB2-A462-C2D367B9805D}"/>
              </a:ext>
            </a:extLst>
          </p:cNvPr>
          <p:cNvSpPr>
            <a:spLocks noGrp="1"/>
          </p:cNvSpPr>
          <p:nvPr>
            <p:ph type="sldNum" sz="quarter" idx="12"/>
          </p:nvPr>
        </p:nvSpPr>
        <p:spPr/>
        <p:txBody>
          <a:bodyPr/>
          <a:lstStyle/>
          <a:p>
            <a:fld id="{5873EA1B-694F-4EE0-AA89-56E07FF9B60D}" type="slidenum">
              <a:rPr lang="en-AT" smtClean="0"/>
              <a:t>‹#›</a:t>
            </a:fld>
            <a:endParaRPr lang="en-AT"/>
          </a:p>
        </p:txBody>
      </p:sp>
    </p:spTree>
    <p:extLst>
      <p:ext uri="{BB962C8B-B14F-4D97-AF65-F5344CB8AC3E}">
        <p14:creationId xmlns:p14="http://schemas.microsoft.com/office/powerpoint/2010/main" val="3861645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20382-A550-620A-FC4B-A8DF4603C2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T"/>
          </a:p>
        </p:txBody>
      </p:sp>
      <p:sp>
        <p:nvSpPr>
          <p:cNvPr id="3" name="Content Placeholder 2">
            <a:extLst>
              <a:ext uri="{FF2B5EF4-FFF2-40B4-BE49-F238E27FC236}">
                <a16:creationId xmlns:a16="http://schemas.microsoft.com/office/drawing/2014/main" id="{40606CF6-FF9A-829D-BF78-2396E04D99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Text Placeholder 3">
            <a:extLst>
              <a:ext uri="{FF2B5EF4-FFF2-40B4-BE49-F238E27FC236}">
                <a16:creationId xmlns:a16="http://schemas.microsoft.com/office/drawing/2014/main" id="{8439393A-D4C0-578E-B7A5-DF64AFBE46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699EE2-299F-448A-4B3D-628F4C7841F6}"/>
              </a:ext>
            </a:extLst>
          </p:cNvPr>
          <p:cNvSpPr>
            <a:spLocks noGrp="1"/>
          </p:cNvSpPr>
          <p:nvPr>
            <p:ph type="dt" sz="half" idx="10"/>
          </p:nvPr>
        </p:nvSpPr>
        <p:spPr/>
        <p:txBody>
          <a:bodyPr/>
          <a:lstStyle/>
          <a:p>
            <a:fld id="{2457C9B7-8561-41F9-B542-CF903FD984F3}" type="datetimeFigureOut">
              <a:rPr lang="en-AT" smtClean="0"/>
              <a:t>06/01/2026</a:t>
            </a:fld>
            <a:endParaRPr lang="en-AT"/>
          </a:p>
        </p:txBody>
      </p:sp>
      <p:sp>
        <p:nvSpPr>
          <p:cNvPr id="6" name="Footer Placeholder 5">
            <a:extLst>
              <a:ext uri="{FF2B5EF4-FFF2-40B4-BE49-F238E27FC236}">
                <a16:creationId xmlns:a16="http://schemas.microsoft.com/office/drawing/2014/main" id="{D7FDBEA5-F256-8B33-1AFB-45E0A815B4A1}"/>
              </a:ext>
            </a:extLst>
          </p:cNvPr>
          <p:cNvSpPr>
            <a:spLocks noGrp="1"/>
          </p:cNvSpPr>
          <p:nvPr>
            <p:ph type="ftr" sz="quarter" idx="11"/>
          </p:nvPr>
        </p:nvSpPr>
        <p:spPr/>
        <p:txBody>
          <a:bodyPr/>
          <a:lstStyle/>
          <a:p>
            <a:endParaRPr lang="en-AT"/>
          </a:p>
        </p:txBody>
      </p:sp>
      <p:sp>
        <p:nvSpPr>
          <p:cNvPr id="7" name="Slide Number Placeholder 6">
            <a:extLst>
              <a:ext uri="{FF2B5EF4-FFF2-40B4-BE49-F238E27FC236}">
                <a16:creationId xmlns:a16="http://schemas.microsoft.com/office/drawing/2014/main" id="{94D6730B-803A-0553-A2E1-C8F3CB9D547D}"/>
              </a:ext>
            </a:extLst>
          </p:cNvPr>
          <p:cNvSpPr>
            <a:spLocks noGrp="1"/>
          </p:cNvSpPr>
          <p:nvPr>
            <p:ph type="sldNum" sz="quarter" idx="12"/>
          </p:nvPr>
        </p:nvSpPr>
        <p:spPr/>
        <p:txBody>
          <a:bodyPr/>
          <a:lstStyle/>
          <a:p>
            <a:fld id="{5873EA1B-694F-4EE0-AA89-56E07FF9B60D}" type="slidenum">
              <a:rPr lang="en-AT" smtClean="0"/>
              <a:t>‹#›</a:t>
            </a:fld>
            <a:endParaRPr lang="en-AT"/>
          </a:p>
        </p:txBody>
      </p:sp>
    </p:spTree>
    <p:extLst>
      <p:ext uri="{BB962C8B-B14F-4D97-AF65-F5344CB8AC3E}">
        <p14:creationId xmlns:p14="http://schemas.microsoft.com/office/powerpoint/2010/main" val="2345747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BBB90-E53F-7A55-49F2-5C6B2B29F8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T"/>
          </a:p>
        </p:txBody>
      </p:sp>
      <p:sp>
        <p:nvSpPr>
          <p:cNvPr id="3" name="Picture Placeholder 2">
            <a:extLst>
              <a:ext uri="{FF2B5EF4-FFF2-40B4-BE49-F238E27FC236}">
                <a16:creationId xmlns:a16="http://schemas.microsoft.com/office/drawing/2014/main" id="{48617311-C212-E922-0707-8057EFE91E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T"/>
          </a:p>
        </p:txBody>
      </p:sp>
      <p:sp>
        <p:nvSpPr>
          <p:cNvPr id="4" name="Text Placeholder 3">
            <a:extLst>
              <a:ext uri="{FF2B5EF4-FFF2-40B4-BE49-F238E27FC236}">
                <a16:creationId xmlns:a16="http://schemas.microsoft.com/office/drawing/2014/main" id="{07634FD3-0B24-8CF4-DD7A-EB41D3472A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28844E-58B5-6C77-AB52-8E25CD278C14}"/>
              </a:ext>
            </a:extLst>
          </p:cNvPr>
          <p:cNvSpPr>
            <a:spLocks noGrp="1"/>
          </p:cNvSpPr>
          <p:nvPr>
            <p:ph type="dt" sz="half" idx="10"/>
          </p:nvPr>
        </p:nvSpPr>
        <p:spPr/>
        <p:txBody>
          <a:bodyPr/>
          <a:lstStyle/>
          <a:p>
            <a:fld id="{2457C9B7-8561-41F9-B542-CF903FD984F3}" type="datetimeFigureOut">
              <a:rPr lang="en-AT" smtClean="0"/>
              <a:t>06/01/2026</a:t>
            </a:fld>
            <a:endParaRPr lang="en-AT"/>
          </a:p>
        </p:txBody>
      </p:sp>
      <p:sp>
        <p:nvSpPr>
          <p:cNvPr id="6" name="Footer Placeholder 5">
            <a:extLst>
              <a:ext uri="{FF2B5EF4-FFF2-40B4-BE49-F238E27FC236}">
                <a16:creationId xmlns:a16="http://schemas.microsoft.com/office/drawing/2014/main" id="{37D77BAD-43DD-3A04-2D4C-4B2C55C229AF}"/>
              </a:ext>
            </a:extLst>
          </p:cNvPr>
          <p:cNvSpPr>
            <a:spLocks noGrp="1"/>
          </p:cNvSpPr>
          <p:nvPr>
            <p:ph type="ftr" sz="quarter" idx="11"/>
          </p:nvPr>
        </p:nvSpPr>
        <p:spPr/>
        <p:txBody>
          <a:bodyPr/>
          <a:lstStyle/>
          <a:p>
            <a:endParaRPr lang="en-AT"/>
          </a:p>
        </p:txBody>
      </p:sp>
      <p:sp>
        <p:nvSpPr>
          <p:cNvPr id="7" name="Slide Number Placeholder 6">
            <a:extLst>
              <a:ext uri="{FF2B5EF4-FFF2-40B4-BE49-F238E27FC236}">
                <a16:creationId xmlns:a16="http://schemas.microsoft.com/office/drawing/2014/main" id="{BC3CAD0A-ECB5-21EF-0705-1D6D97B436E3}"/>
              </a:ext>
            </a:extLst>
          </p:cNvPr>
          <p:cNvSpPr>
            <a:spLocks noGrp="1"/>
          </p:cNvSpPr>
          <p:nvPr>
            <p:ph type="sldNum" sz="quarter" idx="12"/>
          </p:nvPr>
        </p:nvSpPr>
        <p:spPr/>
        <p:txBody>
          <a:bodyPr/>
          <a:lstStyle/>
          <a:p>
            <a:fld id="{5873EA1B-694F-4EE0-AA89-56E07FF9B60D}" type="slidenum">
              <a:rPr lang="en-AT" smtClean="0"/>
              <a:t>‹#›</a:t>
            </a:fld>
            <a:endParaRPr lang="en-AT"/>
          </a:p>
        </p:txBody>
      </p:sp>
    </p:spTree>
    <p:extLst>
      <p:ext uri="{BB962C8B-B14F-4D97-AF65-F5344CB8AC3E}">
        <p14:creationId xmlns:p14="http://schemas.microsoft.com/office/powerpoint/2010/main" val="2300069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519CE-78AC-DAA9-C62A-7261C45E983D}"/>
              </a:ext>
            </a:extLst>
          </p:cNvPr>
          <p:cNvSpPr>
            <a:spLocks noGrp="1"/>
          </p:cNvSpPr>
          <p:nvPr>
            <p:ph type="title"/>
          </p:nvPr>
        </p:nvSpPr>
        <p:spPr/>
        <p:txBody>
          <a:bodyPr/>
          <a:lstStyle/>
          <a:p>
            <a:r>
              <a:rPr lang="en-US"/>
              <a:t>Click to edit Master title style</a:t>
            </a:r>
            <a:endParaRPr lang="en-AT"/>
          </a:p>
        </p:txBody>
      </p:sp>
      <p:sp>
        <p:nvSpPr>
          <p:cNvPr id="3" name="Vertical Text Placeholder 2">
            <a:extLst>
              <a:ext uri="{FF2B5EF4-FFF2-40B4-BE49-F238E27FC236}">
                <a16:creationId xmlns:a16="http://schemas.microsoft.com/office/drawing/2014/main" id="{16880E77-B46F-BCB7-1161-2FEB58226B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Date Placeholder 3">
            <a:extLst>
              <a:ext uri="{FF2B5EF4-FFF2-40B4-BE49-F238E27FC236}">
                <a16:creationId xmlns:a16="http://schemas.microsoft.com/office/drawing/2014/main" id="{77EBEEF5-F9CB-0766-812A-5F841D6AB123}"/>
              </a:ext>
            </a:extLst>
          </p:cNvPr>
          <p:cNvSpPr>
            <a:spLocks noGrp="1"/>
          </p:cNvSpPr>
          <p:nvPr>
            <p:ph type="dt" sz="half" idx="10"/>
          </p:nvPr>
        </p:nvSpPr>
        <p:spPr/>
        <p:txBody>
          <a:bodyPr/>
          <a:lstStyle/>
          <a:p>
            <a:fld id="{2457C9B7-8561-41F9-B542-CF903FD984F3}" type="datetimeFigureOut">
              <a:rPr lang="en-AT" smtClean="0"/>
              <a:t>06/01/2026</a:t>
            </a:fld>
            <a:endParaRPr lang="en-AT"/>
          </a:p>
        </p:txBody>
      </p:sp>
      <p:sp>
        <p:nvSpPr>
          <p:cNvPr id="5" name="Footer Placeholder 4">
            <a:extLst>
              <a:ext uri="{FF2B5EF4-FFF2-40B4-BE49-F238E27FC236}">
                <a16:creationId xmlns:a16="http://schemas.microsoft.com/office/drawing/2014/main" id="{6F558CF3-8A15-3181-DABC-62005132B632}"/>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80CA1058-69EC-4CB5-825B-6C1D43F69DC9}"/>
              </a:ext>
            </a:extLst>
          </p:cNvPr>
          <p:cNvSpPr>
            <a:spLocks noGrp="1"/>
          </p:cNvSpPr>
          <p:nvPr>
            <p:ph type="sldNum" sz="quarter" idx="12"/>
          </p:nvPr>
        </p:nvSpPr>
        <p:spPr/>
        <p:txBody>
          <a:bodyPr/>
          <a:lstStyle/>
          <a:p>
            <a:fld id="{5873EA1B-694F-4EE0-AA89-56E07FF9B60D}" type="slidenum">
              <a:rPr lang="en-AT" smtClean="0"/>
              <a:t>‹#›</a:t>
            </a:fld>
            <a:endParaRPr lang="en-AT"/>
          </a:p>
        </p:txBody>
      </p:sp>
    </p:spTree>
    <p:extLst>
      <p:ext uri="{BB962C8B-B14F-4D97-AF65-F5344CB8AC3E}">
        <p14:creationId xmlns:p14="http://schemas.microsoft.com/office/powerpoint/2010/main" val="586875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2C6165-CFB9-F1C2-9487-7DC2769CBD9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T"/>
          </a:p>
        </p:txBody>
      </p:sp>
      <p:sp>
        <p:nvSpPr>
          <p:cNvPr id="3" name="Vertical Text Placeholder 2">
            <a:extLst>
              <a:ext uri="{FF2B5EF4-FFF2-40B4-BE49-F238E27FC236}">
                <a16:creationId xmlns:a16="http://schemas.microsoft.com/office/drawing/2014/main" id="{4B320B54-8814-D397-D953-3D034740DD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Date Placeholder 3">
            <a:extLst>
              <a:ext uri="{FF2B5EF4-FFF2-40B4-BE49-F238E27FC236}">
                <a16:creationId xmlns:a16="http://schemas.microsoft.com/office/drawing/2014/main" id="{CEC5A071-CE9E-A461-E0B7-035555BF91E5}"/>
              </a:ext>
            </a:extLst>
          </p:cNvPr>
          <p:cNvSpPr>
            <a:spLocks noGrp="1"/>
          </p:cNvSpPr>
          <p:nvPr>
            <p:ph type="dt" sz="half" idx="10"/>
          </p:nvPr>
        </p:nvSpPr>
        <p:spPr/>
        <p:txBody>
          <a:bodyPr/>
          <a:lstStyle/>
          <a:p>
            <a:fld id="{2457C9B7-8561-41F9-B542-CF903FD984F3}" type="datetimeFigureOut">
              <a:rPr lang="en-AT" smtClean="0"/>
              <a:t>06/01/2026</a:t>
            </a:fld>
            <a:endParaRPr lang="en-AT"/>
          </a:p>
        </p:txBody>
      </p:sp>
      <p:sp>
        <p:nvSpPr>
          <p:cNvPr id="5" name="Footer Placeholder 4">
            <a:extLst>
              <a:ext uri="{FF2B5EF4-FFF2-40B4-BE49-F238E27FC236}">
                <a16:creationId xmlns:a16="http://schemas.microsoft.com/office/drawing/2014/main" id="{77768299-60A4-15CD-1BED-7E5ECF603AC6}"/>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A80D60E2-F8AB-0EE2-C23E-4AD4D4A60227}"/>
              </a:ext>
            </a:extLst>
          </p:cNvPr>
          <p:cNvSpPr>
            <a:spLocks noGrp="1"/>
          </p:cNvSpPr>
          <p:nvPr>
            <p:ph type="sldNum" sz="quarter" idx="12"/>
          </p:nvPr>
        </p:nvSpPr>
        <p:spPr/>
        <p:txBody>
          <a:bodyPr/>
          <a:lstStyle/>
          <a:p>
            <a:fld id="{5873EA1B-694F-4EE0-AA89-56E07FF9B60D}" type="slidenum">
              <a:rPr lang="en-AT" smtClean="0"/>
              <a:t>‹#›</a:t>
            </a:fld>
            <a:endParaRPr lang="en-AT"/>
          </a:p>
        </p:txBody>
      </p:sp>
    </p:spTree>
    <p:extLst>
      <p:ext uri="{BB962C8B-B14F-4D97-AF65-F5344CB8AC3E}">
        <p14:creationId xmlns:p14="http://schemas.microsoft.com/office/powerpoint/2010/main" val="36244573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4AAEB19-4B49-2801-9B15-7682CDF04C04}"/>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23C3EC-28B3-4644-8BE5-3288734B463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857468" y="486137"/>
            <a:ext cx="5427584" cy="3599727"/>
          </a:xfrm>
        </p:spPr>
        <p:txBody>
          <a:bodyPr anchor="b" anchorCtr="0">
            <a:noAutofit/>
          </a:bodyPr>
          <a:lstStyle>
            <a:lvl1pPr algn="l">
              <a:defRPr sz="4400" cap="all" baseline="0">
                <a:solidFill>
                  <a:schemeClr val="accent1"/>
                </a:solidFill>
              </a:defRPr>
            </a:lvl1pPr>
          </a:lstStyle>
          <a:p>
            <a:r>
              <a:rPr lang="en-US" dirty="0"/>
              <a:t>Click to add title</a:t>
            </a:r>
          </a:p>
        </p:txBody>
      </p:sp>
      <p:sp>
        <p:nvSpPr>
          <p:cNvPr id="13" name="Picture Placeholder 12">
            <a:extLst>
              <a:ext uri="{FF2B5EF4-FFF2-40B4-BE49-F238E27FC236}">
                <a16:creationId xmlns:a16="http://schemas.microsoft.com/office/drawing/2014/main" id="{B64FCBF4-90E6-FFAA-143D-3A01CE52569B}"/>
              </a:ext>
            </a:extLst>
          </p:cNvPr>
          <p:cNvSpPr>
            <a:spLocks noGrp="1"/>
          </p:cNvSpPr>
          <p:nvPr>
            <p:ph type="pic" sz="quarter" idx="10"/>
          </p:nvPr>
        </p:nvSpPr>
        <p:spPr>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txBody>
          <a:bodyPr tIns="274320" rIns="274320">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647687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ED9D76-3803-D44C-C60E-A51DD5B80A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T"/>
          </a:p>
        </p:txBody>
      </p:sp>
      <p:sp>
        <p:nvSpPr>
          <p:cNvPr id="3" name="Text Placeholder 2">
            <a:extLst>
              <a:ext uri="{FF2B5EF4-FFF2-40B4-BE49-F238E27FC236}">
                <a16:creationId xmlns:a16="http://schemas.microsoft.com/office/drawing/2014/main" id="{09DF9650-4430-9684-5A11-E981535E90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Date Placeholder 3">
            <a:extLst>
              <a:ext uri="{FF2B5EF4-FFF2-40B4-BE49-F238E27FC236}">
                <a16:creationId xmlns:a16="http://schemas.microsoft.com/office/drawing/2014/main" id="{BF3A85EA-7379-9B53-D8B5-F6B752C4E4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57C9B7-8561-41F9-B542-CF903FD984F3}" type="datetimeFigureOut">
              <a:rPr lang="en-AT" smtClean="0"/>
              <a:t>06/01/2026</a:t>
            </a:fld>
            <a:endParaRPr lang="en-AT"/>
          </a:p>
        </p:txBody>
      </p:sp>
      <p:sp>
        <p:nvSpPr>
          <p:cNvPr id="5" name="Footer Placeholder 4">
            <a:extLst>
              <a:ext uri="{FF2B5EF4-FFF2-40B4-BE49-F238E27FC236}">
                <a16:creationId xmlns:a16="http://schemas.microsoft.com/office/drawing/2014/main" id="{7B0D407B-18F0-564A-F4A9-DFD0DED895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T"/>
          </a:p>
        </p:txBody>
      </p:sp>
      <p:sp>
        <p:nvSpPr>
          <p:cNvPr id="6" name="Slide Number Placeholder 5">
            <a:extLst>
              <a:ext uri="{FF2B5EF4-FFF2-40B4-BE49-F238E27FC236}">
                <a16:creationId xmlns:a16="http://schemas.microsoft.com/office/drawing/2014/main" id="{FFC53DD4-523D-EFA7-4077-40D0BBC8F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73EA1B-694F-4EE0-AA89-56E07FF9B60D}" type="slidenum">
              <a:rPr lang="en-AT" smtClean="0"/>
              <a:t>‹#›</a:t>
            </a:fld>
            <a:endParaRPr lang="en-AT"/>
          </a:p>
        </p:txBody>
      </p:sp>
    </p:spTree>
    <p:extLst>
      <p:ext uri="{BB962C8B-B14F-4D97-AF65-F5344CB8AC3E}">
        <p14:creationId xmlns:p14="http://schemas.microsoft.com/office/powerpoint/2010/main" val="1632227892"/>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FEC93CF-2672-7D78-F278-58C5E012E0DF}"/>
              </a:ext>
            </a:extLst>
          </p:cNvPr>
          <p:cNvSpPr>
            <a:spLocks noGrp="1"/>
          </p:cNvSpPr>
          <p:nvPr>
            <p:ph type="ctrTitle"/>
          </p:nvPr>
        </p:nvSpPr>
        <p:spPr>
          <a:xfrm>
            <a:off x="114300" y="4368893"/>
            <a:ext cx="11830049" cy="1540809"/>
          </a:xfrm>
          <a:scene3d>
            <a:camera prst="isometricOffAxis1Right"/>
            <a:lightRig rig="threePt" dir="t"/>
          </a:scene3d>
        </p:spPr>
        <p:txBody>
          <a:bodyPr vert="horz" lIns="91440" tIns="45720" rIns="91440" bIns="45720" rtlCol="0" anchor="b">
            <a:noAutofit/>
          </a:bodyPr>
          <a:lstStyle/>
          <a:p>
            <a:pPr algn="ctr"/>
            <a:r>
              <a:rPr lang="en-AT" sz="6600" b="1" i="1" dirty="0">
                <a:solidFill>
                  <a:schemeClr val="bg1"/>
                </a:solidFill>
                <a:effectLst>
                  <a:outerShdw blurRad="38100" dist="38100" dir="2700000" algn="tl">
                    <a:srgbClr val="000000">
                      <a:alpha val="43137"/>
                    </a:srgbClr>
                  </a:outerShdw>
                </a:effectLst>
              </a:rPr>
              <a:t>Say Yes to the World</a:t>
            </a:r>
            <a:br>
              <a:rPr lang="en-AT" sz="6600" b="1" i="1" dirty="0">
                <a:effectLst>
                  <a:outerShdw blurRad="38100" dist="38100" dir="2700000" algn="tl">
                    <a:srgbClr val="000000">
                      <a:alpha val="43137"/>
                    </a:srgbClr>
                  </a:outerShdw>
                </a:effectLst>
              </a:rPr>
            </a:br>
            <a:endParaRPr lang="en-US" sz="6600" b="1" i="1" kern="1200" cap="all" baseline="0" dirty="0">
              <a:solidFill>
                <a:srgbClr val="FFFFFF"/>
              </a:solidFill>
              <a:effectLst>
                <a:outerShdw blurRad="38100" dist="38100" dir="2700000" algn="tl">
                  <a:srgbClr val="000000">
                    <a:alpha val="43137"/>
                  </a:srgbClr>
                </a:outerShdw>
              </a:effectLst>
              <a:latin typeface="Adobe Garamond Pro Bold" panose="02020702060506020403" pitchFamily="18" charset="0"/>
            </a:endParaRPr>
          </a:p>
        </p:txBody>
      </p:sp>
      <p:pic>
        <p:nvPicPr>
          <p:cNvPr id="5" name="Picture Placeholder 4">
            <a:extLst>
              <a:ext uri="{FF2B5EF4-FFF2-40B4-BE49-F238E27FC236}">
                <a16:creationId xmlns:a16="http://schemas.microsoft.com/office/drawing/2014/main" id="{F65B8AA1-B47A-F238-4594-DC84D36D0C0F}"/>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27231" b="35223"/>
          <a:stretch>
            <a:fillRect/>
          </a:stretch>
        </p:blipFill>
        <p:spPr>
          <a:xfrm>
            <a:off x="20" y="10"/>
            <a:ext cx="12191979" cy="6857989"/>
          </a:xfrm>
          <a:prstGeom prst="rect">
            <a:avLst/>
          </a:prstGeom>
        </p:spPr>
      </p:pic>
    </p:spTree>
    <p:extLst>
      <p:ext uri="{BB962C8B-B14F-4D97-AF65-F5344CB8AC3E}">
        <p14:creationId xmlns:p14="http://schemas.microsoft.com/office/powerpoint/2010/main" val="307899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A2333-0490-D29F-111F-502BA8D892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E7D4A1-E452-F9AD-0C0C-E6D7B0D15A7F}"/>
              </a:ext>
            </a:extLst>
          </p:cNvPr>
          <p:cNvSpPr>
            <a:spLocks noGrp="1"/>
          </p:cNvSpPr>
          <p:nvPr>
            <p:ph type="ctrTitle"/>
          </p:nvPr>
        </p:nvSpPr>
        <p:spPr>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a:normAutofit fontScale="90000"/>
          </a:bodyPr>
          <a:lstStyle/>
          <a:p>
            <a:r>
              <a:rPr lang="en-GB" dirty="0"/>
              <a:t>Data-Driven Analysis of Flight Delays and Cancellations at Lufthansa Airlines</a:t>
            </a:r>
            <a:endParaRPr lang="en-AT" dirty="0"/>
          </a:p>
        </p:txBody>
      </p:sp>
      <p:sp>
        <p:nvSpPr>
          <p:cNvPr id="3" name="Subtitle 2">
            <a:extLst>
              <a:ext uri="{FF2B5EF4-FFF2-40B4-BE49-F238E27FC236}">
                <a16:creationId xmlns:a16="http://schemas.microsoft.com/office/drawing/2014/main" id="{5F37566C-5510-141F-35D9-71CC8142A125}"/>
              </a:ext>
            </a:extLst>
          </p:cNvPr>
          <p:cNvSpPr>
            <a:spLocks noGrp="1"/>
          </p:cNvSpPr>
          <p:nvPr>
            <p:ph type="subTitle" idx="1"/>
          </p:nvPr>
        </p:nvSpPr>
        <p:spPr>
          <a:effectLst>
            <a:outerShdw blurRad="50800" dist="38100" dir="5400000" algn="t" rotWithShape="0">
              <a:prstClr val="black">
                <a:alpha val="40000"/>
              </a:prstClr>
            </a:outerShdw>
          </a:effectLst>
        </p:spPr>
        <p:txBody>
          <a:bodyPr/>
          <a:lstStyle/>
          <a:p>
            <a:r>
              <a:rPr lang="en-GB" i="1" dirty="0"/>
              <a:t>Using Power BI for Operational Insights and Decision Support</a:t>
            </a:r>
            <a:endParaRPr lang="en-GB" dirty="0"/>
          </a:p>
          <a:p>
            <a:endParaRPr lang="en-AT" dirty="0"/>
          </a:p>
        </p:txBody>
      </p:sp>
    </p:spTree>
    <p:extLst>
      <p:ext uri="{BB962C8B-B14F-4D97-AF65-F5344CB8AC3E}">
        <p14:creationId xmlns:p14="http://schemas.microsoft.com/office/powerpoint/2010/main" val="3165378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E726F-486E-3760-3227-7DE87E879584}"/>
              </a:ext>
            </a:extLst>
          </p:cNvPr>
          <p:cNvSpPr>
            <a:spLocks noGrp="1"/>
          </p:cNvSpPr>
          <p:nvPr>
            <p:ph type="ctrTitle"/>
          </p:nvPr>
        </p:nvSpPr>
        <p:spPr>
          <a:xfrm>
            <a:off x="219075" y="1122362"/>
            <a:ext cx="10448925" cy="725487"/>
          </a:xfrm>
        </p:spPr>
        <p:style>
          <a:lnRef idx="1">
            <a:schemeClr val="accent4"/>
          </a:lnRef>
          <a:fillRef idx="2">
            <a:schemeClr val="accent4"/>
          </a:fillRef>
          <a:effectRef idx="1">
            <a:schemeClr val="accent4"/>
          </a:effectRef>
          <a:fontRef idx="minor">
            <a:schemeClr val="dk1"/>
          </a:fontRef>
        </p:style>
        <p:txBody>
          <a:bodyPr>
            <a:normAutofit/>
          </a:bodyPr>
          <a:lstStyle/>
          <a:p>
            <a:pPr algn="l"/>
            <a:r>
              <a:rPr lang="en-GB" sz="2000" dirty="0"/>
              <a:t>Project  Introduction</a:t>
            </a:r>
            <a:endParaRPr lang="en-AT" sz="2000" dirty="0"/>
          </a:p>
        </p:txBody>
      </p:sp>
      <p:sp>
        <p:nvSpPr>
          <p:cNvPr id="3" name="Subtitle 2">
            <a:extLst>
              <a:ext uri="{FF2B5EF4-FFF2-40B4-BE49-F238E27FC236}">
                <a16:creationId xmlns:a16="http://schemas.microsoft.com/office/drawing/2014/main" id="{8CD821A2-2A4E-CA26-8415-D144172F213E}"/>
              </a:ext>
            </a:extLst>
          </p:cNvPr>
          <p:cNvSpPr>
            <a:spLocks noGrp="1"/>
          </p:cNvSpPr>
          <p:nvPr>
            <p:ph type="subTitle" idx="1"/>
          </p:nvPr>
        </p:nvSpPr>
        <p:spPr>
          <a:xfrm>
            <a:off x="219074" y="2143125"/>
            <a:ext cx="11049001" cy="3114675"/>
          </a:xfrm>
        </p:spPr>
        <p:style>
          <a:lnRef idx="1">
            <a:schemeClr val="accent2"/>
          </a:lnRef>
          <a:fillRef idx="2">
            <a:schemeClr val="accent2"/>
          </a:fillRef>
          <a:effectRef idx="1">
            <a:schemeClr val="accent2"/>
          </a:effectRef>
          <a:fontRef idx="minor">
            <a:schemeClr val="dk1"/>
          </a:fontRef>
        </p:style>
        <p:txBody>
          <a:bodyPr>
            <a:normAutofit/>
          </a:bodyPr>
          <a:lstStyle/>
          <a:p>
            <a:pPr algn="l"/>
            <a:r>
              <a:rPr lang="en-GB" sz="2200" dirty="0"/>
              <a:t>This project was conducted by a </a:t>
            </a:r>
            <a:r>
              <a:rPr lang="en-AT" sz="2200" dirty="0"/>
              <a:t>individual </a:t>
            </a:r>
            <a:r>
              <a:rPr lang="en-GB" sz="2200" dirty="0"/>
              <a:t>data analytics focusing on applying Business Intelligence and data visualization techniques to real airline operational data.</a:t>
            </a:r>
          </a:p>
          <a:p>
            <a:pPr algn="l"/>
            <a:r>
              <a:rPr lang="en-GB" sz="2200" dirty="0"/>
              <a:t>Team expertise includes:</a:t>
            </a:r>
          </a:p>
          <a:p>
            <a:pPr marL="342900" indent="-342900" algn="l">
              <a:buFont typeface="Arial" panose="020B0604020202020204" pitchFamily="34" charset="0"/>
              <a:buChar char="•"/>
            </a:pPr>
            <a:r>
              <a:rPr lang="en-GB" sz="2200" dirty="0"/>
              <a:t>Data </a:t>
            </a:r>
            <a:r>
              <a:rPr lang="en-GB" sz="2200" dirty="0" err="1"/>
              <a:t>modeling</a:t>
            </a:r>
            <a:r>
              <a:rPr lang="en-GB" sz="2200" dirty="0"/>
              <a:t> and transformation</a:t>
            </a:r>
          </a:p>
          <a:p>
            <a:pPr marL="342900" indent="-342900" algn="l">
              <a:buFont typeface="Arial" panose="020B0604020202020204" pitchFamily="34" charset="0"/>
              <a:buChar char="•"/>
            </a:pPr>
            <a:r>
              <a:rPr lang="en-GB" sz="2200" dirty="0"/>
              <a:t>DAX-based analytical measures</a:t>
            </a:r>
          </a:p>
          <a:p>
            <a:pPr marL="342900" indent="-342900" algn="l">
              <a:buFont typeface="Arial" panose="020B0604020202020204" pitchFamily="34" charset="0"/>
              <a:buChar char="•"/>
            </a:pPr>
            <a:r>
              <a:rPr lang="en-GB" sz="2200" dirty="0"/>
              <a:t>Power BI dashboard design</a:t>
            </a:r>
          </a:p>
          <a:p>
            <a:pPr marL="342900" indent="-342900" algn="l">
              <a:buFont typeface="Arial" panose="020B0604020202020204" pitchFamily="34" charset="0"/>
              <a:buChar char="•"/>
            </a:pPr>
            <a:r>
              <a:rPr lang="en-GB" sz="2200" dirty="0"/>
              <a:t>Business-oriented insight generation</a:t>
            </a:r>
          </a:p>
          <a:p>
            <a:endParaRPr lang="en-AT" dirty="0"/>
          </a:p>
        </p:txBody>
      </p:sp>
    </p:spTree>
    <p:extLst>
      <p:ext uri="{BB962C8B-B14F-4D97-AF65-F5344CB8AC3E}">
        <p14:creationId xmlns:p14="http://schemas.microsoft.com/office/powerpoint/2010/main" val="2668447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9F47D-61FF-6EC8-501F-8535E1FF8889}"/>
              </a:ext>
            </a:extLst>
          </p:cNvPr>
          <p:cNvSpPr>
            <a:spLocks noGrp="1"/>
          </p:cNvSpPr>
          <p:nvPr>
            <p:ph type="title"/>
          </p:nvPr>
        </p:nvSpPr>
        <p:spPr/>
        <p:style>
          <a:lnRef idx="1">
            <a:schemeClr val="accent4"/>
          </a:lnRef>
          <a:fillRef idx="2">
            <a:schemeClr val="accent4"/>
          </a:fillRef>
          <a:effectRef idx="1">
            <a:schemeClr val="accent4"/>
          </a:effectRef>
          <a:fontRef idx="minor">
            <a:schemeClr val="dk1"/>
          </a:fontRef>
        </p:style>
        <p:txBody>
          <a:bodyPr>
            <a:normAutofit/>
          </a:bodyPr>
          <a:lstStyle/>
          <a:p>
            <a:r>
              <a:rPr lang="en-AT" sz="2800" dirty="0"/>
              <a:t>Project Goals</a:t>
            </a:r>
          </a:p>
        </p:txBody>
      </p:sp>
      <p:sp>
        <p:nvSpPr>
          <p:cNvPr id="3" name="Content Placeholder 2">
            <a:extLst>
              <a:ext uri="{FF2B5EF4-FFF2-40B4-BE49-F238E27FC236}">
                <a16:creationId xmlns:a16="http://schemas.microsoft.com/office/drawing/2014/main" id="{CC6B7C3B-B237-B191-36AA-AB8E7E481A7A}"/>
              </a:ext>
            </a:extLst>
          </p:cNvPr>
          <p:cNvSpPr>
            <a:spLocks noGrp="1"/>
          </p:cNvSpPr>
          <p:nvPr>
            <p:ph idx="1"/>
          </p:nvPr>
        </p:nvSpPr>
        <p:spPr>
          <a:xfrm>
            <a:off x="838200" y="1825625"/>
            <a:ext cx="10515600" cy="3136900"/>
          </a:xfrm>
        </p:spPr>
        <p:style>
          <a:lnRef idx="1">
            <a:schemeClr val="accent2"/>
          </a:lnRef>
          <a:fillRef idx="2">
            <a:schemeClr val="accent2"/>
          </a:fillRef>
          <a:effectRef idx="1">
            <a:schemeClr val="accent2"/>
          </a:effectRef>
          <a:fontRef idx="minor">
            <a:schemeClr val="dk1"/>
          </a:fontRef>
        </p:style>
        <p:txBody>
          <a:bodyPr>
            <a:normAutofit/>
          </a:bodyPr>
          <a:lstStyle/>
          <a:p>
            <a:pPr marL="0" indent="0">
              <a:buNone/>
            </a:pPr>
            <a:endParaRPr lang="en-GB" sz="2000" dirty="0"/>
          </a:p>
          <a:p>
            <a:r>
              <a:rPr lang="en-GB" sz="2000" dirty="0"/>
              <a:t>The primary goals of this project were to:</a:t>
            </a:r>
          </a:p>
          <a:p>
            <a:r>
              <a:rPr lang="en-GB" sz="2000" dirty="0" err="1"/>
              <a:t>Analyze</a:t>
            </a:r>
            <a:r>
              <a:rPr lang="en-GB" sz="2000" dirty="0"/>
              <a:t> flight delays and cancellations at Lufthansa Airlines</a:t>
            </a:r>
          </a:p>
          <a:p>
            <a:r>
              <a:rPr lang="en-GB" sz="2000" dirty="0"/>
              <a:t>Identify key operational bottlenecks</a:t>
            </a:r>
          </a:p>
          <a:p>
            <a:r>
              <a:rPr lang="en-GB" sz="2000" dirty="0"/>
              <a:t>Distinguish between true delay vs. process delay</a:t>
            </a:r>
          </a:p>
          <a:p>
            <a:r>
              <a:rPr lang="en-GB" sz="2000" dirty="0"/>
              <a:t>Understand peak vs. off-peak operational pressure</a:t>
            </a:r>
          </a:p>
          <a:p>
            <a:r>
              <a:rPr lang="en-GB" sz="2000" dirty="0"/>
              <a:t>Build a decision-ready Power BI dashboard for management use</a:t>
            </a:r>
          </a:p>
          <a:p>
            <a:endParaRPr lang="en-AT" dirty="0"/>
          </a:p>
        </p:txBody>
      </p:sp>
    </p:spTree>
    <p:extLst>
      <p:ext uri="{BB962C8B-B14F-4D97-AF65-F5344CB8AC3E}">
        <p14:creationId xmlns:p14="http://schemas.microsoft.com/office/powerpoint/2010/main" val="3193020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2805D-D574-4496-2E13-09173CD62399}"/>
              </a:ext>
            </a:extLst>
          </p:cNvPr>
          <p:cNvSpPr>
            <a:spLocks noGrp="1"/>
          </p:cNvSpPr>
          <p:nvPr>
            <p:ph type="title"/>
          </p:nvPr>
        </p:nvSpPr>
        <p:spPr/>
        <p:style>
          <a:lnRef idx="1">
            <a:schemeClr val="accent4"/>
          </a:lnRef>
          <a:fillRef idx="2">
            <a:schemeClr val="accent4"/>
          </a:fillRef>
          <a:effectRef idx="1">
            <a:schemeClr val="accent4"/>
          </a:effectRef>
          <a:fontRef idx="minor">
            <a:schemeClr val="dk1"/>
          </a:fontRef>
        </p:style>
        <p:txBody>
          <a:bodyPr>
            <a:normAutofit/>
          </a:bodyPr>
          <a:lstStyle/>
          <a:p>
            <a:r>
              <a:rPr lang="en-GB" sz="2800" b="1" dirty="0"/>
              <a:t>Key Achievements</a:t>
            </a:r>
            <a:endParaRPr lang="en-AT" sz="2800" dirty="0"/>
          </a:p>
        </p:txBody>
      </p:sp>
      <p:sp>
        <p:nvSpPr>
          <p:cNvPr id="3" name="Content Placeholder 2">
            <a:extLst>
              <a:ext uri="{FF2B5EF4-FFF2-40B4-BE49-F238E27FC236}">
                <a16:creationId xmlns:a16="http://schemas.microsoft.com/office/drawing/2014/main" id="{FEE96E36-8096-2FC8-E20F-23CAC5736BC8}"/>
              </a:ext>
            </a:extLst>
          </p:cNvPr>
          <p:cNvSpPr>
            <a:spLocks noGrp="1"/>
          </p:cNvSpPr>
          <p:nvPr>
            <p:ph idx="1"/>
          </p:nvPr>
        </p:nvSpPr>
        <p:spPr/>
        <p:style>
          <a:lnRef idx="1">
            <a:schemeClr val="accent2"/>
          </a:lnRef>
          <a:fillRef idx="2">
            <a:schemeClr val="accent2"/>
          </a:fillRef>
          <a:effectRef idx="1">
            <a:schemeClr val="accent2"/>
          </a:effectRef>
          <a:fontRef idx="minor">
            <a:schemeClr val="dk1"/>
          </a:fontRef>
        </p:style>
        <p:txBody>
          <a:bodyPr/>
          <a:lstStyle/>
          <a:p>
            <a:pPr marL="0" indent="0">
              <a:buNone/>
            </a:pPr>
            <a:endParaRPr lang="en-GB" sz="2000" dirty="0"/>
          </a:p>
          <a:p>
            <a:pPr marL="0" indent="0">
              <a:buNone/>
            </a:pPr>
            <a:r>
              <a:rPr lang="en-GB" sz="2000" dirty="0"/>
              <a:t>✔ Built a structured fact-based data model</a:t>
            </a:r>
            <a:br>
              <a:rPr lang="en-GB" sz="2000" dirty="0"/>
            </a:br>
            <a:r>
              <a:rPr lang="en-GB" sz="2000" dirty="0"/>
              <a:t>✔ Developed advanced DAX measures for delay and performance analysis</a:t>
            </a:r>
            <a:br>
              <a:rPr lang="en-GB" sz="2000" dirty="0"/>
            </a:br>
            <a:r>
              <a:rPr lang="en-GB" sz="2000" dirty="0"/>
              <a:t>✔ Identified peak operational hours impacting delays</a:t>
            </a:r>
            <a:br>
              <a:rPr lang="en-GB" sz="2000" dirty="0"/>
            </a:br>
            <a:r>
              <a:rPr lang="en-GB" sz="2000" dirty="0"/>
              <a:t>✔ Designed interactive Power BI dashboards</a:t>
            </a:r>
            <a:br>
              <a:rPr lang="en-GB" sz="2000" dirty="0"/>
            </a:br>
            <a:r>
              <a:rPr lang="en-GB" sz="2000" dirty="0"/>
              <a:t>✔ Converted raw data into actionable business insights</a:t>
            </a:r>
          </a:p>
          <a:p>
            <a:endParaRPr lang="en-AT" dirty="0"/>
          </a:p>
        </p:txBody>
      </p:sp>
    </p:spTree>
    <p:extLst>
      <p:ext uri="{BB962C8B-B14F-4D97-AF65-F5344CB8AC3E}">
        <p14:creationId xmlns:p14="http://schemas.microsoft.com/office/powerpoint/2010/main" val="770952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4B2F0-47AB-7442-034C-A5BA1D3774A3}"/>
              </a:ext>
            </a:extLst>
          </p:cNvPr>
          <p:cNvSpPr>
            <a:spLocks noGrp="1"/>
          </p:cNvSpPr>
          <p:nvPr>
            <p:ph type="title"/>
          </p:nvPr>
        </p:nvSpPr>
        <p:spPr/>
        <p:style>
          <a:lnRef idx="1">
            <a:schemeClr val="accent4"/>
          </a:lnRef>
          <a:fillRef idx="2">
            <a:schemeClr val="accent4"/>
          </a:fillRef>
          <a:effectRef idx="1">
            <a:schemeClr val="accent4"/>
          </a:effectRef>
          <a:fontRef idx="minor">
            <a:schemeClr val="dk1"/>
          </a:fontRef>
        </p:style>
        <p:txBody>
          <a:bodyPr>
            <a:normAutofit/>
          </a:bodyPr>
          <a:lstStyle/>
          <a:p>
            <a:r>
              <a:rPr lang="en-GB" sz="2400" b="1" dirty="0"/>
              <a:t>Key Findings &amp; Data Analysis Results</a:t>
            </a:r>
            <a:br>
              <a:rPr lang="en-AT" sz="2400" b="1" dirty="0"/>
            </a:br>
            <a:r>
              <a:rPr lang="en-GB" sz="2400" b="1" dirty="0"/>
              <a:t>Executive KPI Summary (Dashboard Overview)</a:t>
            </a:r>
            <a:br>
              <a:rPr lang="en-GB" sz="2400" b="1" dirty="0"/>
            </a:br>
            <a:endParaRPr lang="en-AT" sz="2400" b="1" dirty="0"/>
          </a:p>
        </p:txBody>
      </p:sp>
      <p:sp>
        <p:nvSpPr>
          <p:cNvPr id="3" name="Content Placeholder 2">
            <a:extLst>
              <a:ext uri="{FF2B5EF4-FFF2-40B4-BE49-F238E27FC236}">
                <a16:creationId xmlns:a16="http://schemas.microsoft.com/office/drawing/2014/main" id="{BF784270-A9F5-1318-4323-37251CFE8F23}"/>
              </a:ext>
            </a:extLst>
          </p:cNvPr>
          <p:cNvSpPr>
            <a:spLocks noGrp="1"/>
          </p:cNvSpPr>
          <p:nvPr>
            <p:ph idx="1"/>
          </p:nvPr>
        </p:nvSpPr>
        <p:spPr>
          <a:xfrm>
            <a:off x="838200" y="1914525"/>
            <a:ext cx="10515600" cy="3924300"/>
          </a:xfrm>
        </p:spPr>
        <p:style>
          <a:lnRef idx="1">
            <a:schemeClr val="accent2"/>
          </a:lnRef>
          <a:fillRef idx="2">
            <a:schemeClr val="accent2"/>
          </a:fillRef>
          <a:effectRef idx="1">
            <a:schemeClr val="accent2"/>
          </a:effectRef>
          <a:fontRef idx="minor">
            <a:schemeClr val="dk1"/>
          </a:fontRef>
        </p:style>
        <p:txBody>
          <a:bodyPr>
            <a:normAutofit/>
          </a:bodyPr>
          <a:lstStyle/>
          <a:p>
            <a:pPr marL="0" indent="0" algn="just">
              <a:buNone/>
            </a:pPr>
            <a:endParaRPr lang="en-GB" sz="2000" dirty="0"/>
          </a:p>
          <a:p>
            <a:pPr algn="just"/>
            <a:r>
              <a:rPr lang="en-GB" sz="2000" dirty="0"/>
              <a:t>Total Flights</a:t>
            </a:r>
          </a:p>
          <a:p>
            <a:pPr algn="just"/>
            <a:r>
              <a:rPr lang="en-GB" sz="2000" dirty="0"/>
              <a:t>Delayed Flights</a:t>
            </a:r>
          </a:p>
          <a:p>
            <a:pPr algn="just"/>
            <a:r>
              <a:rPr lang="en-GB" sz="2000" dirty="0"/>
              <a:t>Cancelled Flights</a:t>
            </a:r>
          </a:p>
          <a:p>
            <a:pPr algn="just"/>
            <a:r>
              <a:rPr lang="en-GB" sz="2000" dirty="0"/>
              <a:t>On-Time Flights</a:t>
            </a:r>
          </a:p>
          <a:p>
            <a:pPr algn="just"/>
            <a:r>
              <a:rPr lang="en-GB" sz="2000" dirty="0"/>
              <a:t>Total True Delay Minutes</a:t>
            </a:r>
          </a:p>
          <a:p>
            <a:pPr algn="just"/>
            <a:r>
              <a:rPr lang="en-GB" sz="2000" dirty="0"/>
              <a:t>Total Process Delay Minutes</a:t>
            </a:r>
          </a:p>
          <a:p>
            <a:endParaRPr lang="en-AT" dirty="0"/>
          </a:p>
        </p:txBody>
      </p:sp>
    </p:spTree>
    <p:extLst>
      <p:ext uri="{BB962C8B-B14F-4D97-AF65-F5344CB8AC3E}">
        <p14:creationId xmlns:p14="http://schemas.microsoft.com/office/powerpoint/2010/main" val="60747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52BCC-5E9C-579D-CBB8-A155082E8119}"/>
              </a:ext>
            </a:extLst>
          </p:cNvPr>
          <p:cNvSpPr>
            <a:spLocks noGrp="1"/>
          </p:cNvSpPr>
          <p:nvPr>
            <p:ph type="title"/>
          </p:nvPr>
        </p:nvSpPr>
        <p:spPr>
          <a:effectLst>
            <a:outerShdw blurRad="50800" dist="38100" dir="5400000" algn="t" rotWithShape="0">
              <a:prstClr val="black">
                <a:alpha val="40000"/>
              </a:prstClr>
            </a:outerShdw>
          </a:effectLst>
          <a:scene3d>
            <a:camera prst="perspectiveRelaxedModerately"/>
            <a:lightRig rig="threePt" dir="t"/>
          </a:scene3d>
        </p:spPr>
        <p:txBody>
          <a:bodyPr/>
          <a:lstStyle/>
          <a:p>
            <a:pPr algn="ctr"/>
            <a:r>
              <a:rPr lang="en-AT" b="1" dirty="0"/>
              <a:t>P</a:t>
            </a:r>
            <a:r>
              <a:rPr lang="en-GB" b="1" dirty="0" err="1"/>
              <a:t>roject</a:t>
            </a:r>
            <a:r>
              <a:rPr lang="en-GB" b="1" dirty="0"/>
              <a:t> Goal</a:t>
            </a:r>
            <a:br>
              <a:rPr lang="en-GB" b="1" dirty="0"/>
            </a:br>
            <a:endParaRPr lang="en-AT" dirty="0"/>
          </a:p>
        </p:txBody>
      </p:sp>
      <p:sp>
        <p:nvSpPr>
          <p:cNvPr id="3" name="Content Placeholder 2">
            <a:extLst>
              <a:ext uri="{FF2B5EF4-FFF2-40B4-BE49-F238E27FC236}">
                <a16:creationId xmlns:a16="http://schemas.microsoft.com/office/drawing/2014/main" id="{223993B7-A434-D58A-2E77-9F8078C22535}"/>
              </a:ext>
            </a:extLst>
          </p:cNvPr>
          <p:cNvSpPr>
            <a:spLocks noGrp="1"/>
          </p:cNvSpPr>
          <p:nvPr>
            <p:ph idx="1"/>
          </p:nvPr>
        </p:nvSpPr>
        <p:spPr>
          <a:effectLst>
            <a:outerShdw blurRad="50800" dist="38100" dir="5400000" algn="t" rotWithShape="0">
              <a:prstClr val="black">
                <a:alpha val="40000"/>
              </a:prstClr>
            </a:outerShdw>
          </a:effectLst>
        </p:spPr>
        <p:txBody>
          <a:bodyPr>
            <a:normAutofit fontScale="55000" lnSpcReduction="20000"/>
          </a:bodyPr>
          <a:lstStyle/>
          <a:p>
            <a:pPr marL="514350" indent="-514350">
              <a:buFont typeface="+mj-lt"/>
              <a:buAutoNum type="arabicPeriod"/>
            </a:pPr>
            <a:r>
              <a:rPr lang="en-GB" dirty="0"/>
              <a:t>The primary goal of this project is to </a:t>
            </a:r>
            <a:r>
              <a:rPr lang="en-GB" b="1" dirty="0" err="1"/>
              <a:t>analyze</a:t>
            </a:r>
            <a:r>
              <a:rPr lang="en-GB" b="1" dirty="0"/>
              <a:t> flight delays and cancellations at Lufthansa Airlines</a:t>
            </a:r>
            <a:r>
              <a:rPr lang="en-GB" dirty="0"/>
              <a:t> using a data-driven Business Intelligence approach and to translate operational insights into </a:t>
            </a:r>
            <a:r>
              <a:rPr lang="en-GB" b="1" dirty="0"/>
              <a:t>actionable business development recommendations</a:t>
            </a:r>
            <a:r>
              <a:rPr lang="en-GB" dirty="0"/>
              <a:t>.</a:t>
            </a:r>
          </a:p>
          <a:p>
            <a:pPr marL="514350" indent="-514350">
              <a:buFont typeface="+mj-lt"/>
              <a:buAutoNum type="arabicPeriod"/>
            </a:pPr>
            <a:r>
              <a:rPr lang="en-GB" dirty="0"/>
              <a:t>Specifically, this project aims to:</a:t>
            </a:r>
          </a:p>
          <a:p>
            <a:pPr marL="514350" indent="-514350">
              <a:buFont typeface="+mj-lt"/>
              <a:buAutoNum type="arabicPeriod"/>
            </a:pPr>
            <a:r>
              <a:rPr lang="en-GB" b="1" dirty="0"/>
              <a:t>Quantify and </a:t>
            </a:r>
            <a:r>
              <a:rPr lang="en-GB" b="1" dirty="0" err="1"/>
              <a:t>analyze</a:t>
            </a:r>
            <a:r>
              <a:rPr lang="en-GB" b="1" dirty="0"/>
              <a:t> flight delays and cancellations</a:t>
            </a:r>
            <a:r>
              <a:rPr lang="en-GB" dirty="0"/>
              <a:t> to understand their frequency, severity, and passenger impact</a:t>
            </a:r>
          </a:p>
          <a:p>
            <a:pPr marL="514350" indent="-514350">
              <a:buFont typeface="+mj-lt"/>
              <a:buAutoNum type="arabicPeriod"/>
            </a:pPr>
            <a:r>
              <a:rPr lang="en-GB" b="1" dirty="0"/>
              <a:t>Differentiate between true passenger delays and internal process delays</a:t>
            </a:r>
            <a:r>
              <a:rPr lang="en-GB" dirty="0"/>
              <a:t>, highlighting Lufthansa’s delay-absorption capability</a:t>
            </a:r>
          </a:p>
          <a:p>
            <a:pPr marL="514350" indent="-514350">
              <a:buFont typeface="+mj-lt"/>
              <a:buAutoNum type="arabicPeriod"/>
            </a:pPr>
            <a:r>
              <a:rPr lang="en-GB" b="1" dirty="0"/>
              <a:t>Identify key operational drivers</a:t>
            </a:r>
            <a:r>
              <a:rPr lang="en-GB" dirty="0"/>
              <a:t> of delays, including aircraft type, flight day patterns, and peak vs off-peak operations</a:t>
            </a:r>
          </a:p>
          <a:p>
            <a:pPr marL="514350" indent="-514350">
              <a:buFont typeface="+mj-lt"/>
              <a:buAutoNum type="arabicPeriod"/>
            </a:pPr>
            <a:r>
              <a:rPr lang="en-GB" b="1" dirty="0"/>
              <a:t>Assess operational reliability and resilience</a:t>
            </a:r>
            <a:r>
              <a:rPr lang="en-GB" dirty="0"/>
              <a:t>, focusing on on-time performance, recovery effectiveness, and cancellation risk</a:t>
            </a:r>
          </a:p>
          <a:p>
            <a:pPr marL="514350" indent="-514350">
              <a:buFont typeface="+mj-lt"/>
              <a:buAutoNum type="arabicPeriod"/>
            </a:pPr>
            <a:r>
              <a:rPr lang="en-GB" b="1" dirty="0"/>
              <a:t>Highlight high-impact risk areas</a:t>
            </a:r>
            <a:r>
              <a:rPr lang="en-GB" dirty="0"/>
              <a:t> where delays or cancellations generate disproportionate cost and customer dissatisfaction</a:t>
            </a:r>
          </a:p>
          <a:p>
            <a:pPr marL="514350" indent="-514350">
              <a:buFont typeface="+mj-lt"/>
              <a:buAutoNum type="arabicPeriod"/>
            </a:pPr>
            <a:r>
              <a:rPr lang="en-GB" b="1" dirty="0"/>
              <a:t>Provide business-oriented recommendations</a:t>
            </a:r>
            <a:r>
              <a:rPr lang="en-GB" dirty="0"/>
              <a:t> to improve operational efficiency, reduce delay and cancellation risk, and support strategic decision-making</a:t>
            </a:r>
          </a:p>
          <a:p>
            <a:pPr marL="514350" indent="-514350">
              <a:buFont typeface="+mj-lt"/>
              <a:buAutoNum type="arabicPeriod"/>
            </a:pPr>
            <a:r>
              <a:rPr lang="en-GB" dirty="0"/>
              <a:t>The ultimate objective is to </a:t>
            </a:r>
            <a:r>
              <a:rPr lang="en-GB" b="1" dirty="0"/>
              <a:t>support Lufthansa’s operational optimization and business development efforts</a:t>
            </a:r>
            <a:r>
              <a:rPr lang="en-GB" dirty="0"/>
              <a:t> by delivering a </a:t>
            </a:r>
            <a:r>
              <a:rPr lang="en-GB" b="1" dirty="0"/>
              <a:t>decision-ready Power BI dashboard</a:t>
            </a:r>
            <a:r>
              <a:rPr lang="en-GB" dirty="0"/>
              <a:t> and </a:t>
            </a:r>
            <a:r>
              <a:rPr lang="en-GB" b="1" dirty="0"/>
              <a:t>executive-level insights</a:t>
            </a:r>
            <a:r>
              <a:rPr lang="en-GB" dirty="0"/>
              <a:t> that enable targeted improvements in punctuality, cost control, and customer experience.</a:t>
            </a:r>
          </a:p>
          <a:p>
            <a:pPr marL="514350" indent="-514350">
              <a:buFont typeface="+mj-lt"/>
              <a:buAutoNum type="arabicPeriod"/>
            </a:pPr>
            <a:endParaRPr lang="en-AT" dirty="0"/>
          </a:p>
        </p:txBody>
      </p:sp>
    </p:spTree>
    <p:extLst>
      <p:ext uri="{BB962C8B-B14F-4D97-AF65-F5344CB8AC3E}">
        <p14:creationId xmlns:p14="http://schemas.microsoft.com/office/powerpoint/2010/main" val="2891907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B6B15B5-79E2-D28E-448C-06DF67DD450B}"/>
              </a:ext>
            </a:extLst>
          </p:cNvPr>
          <p:cNvSpPr txBox="1"/>
          <p:nvPr/>
        </p:nvSpPr>
        <p:spPr>
          <a:xfrm>
            <a:off x="209549" y="163400"/>
            <a:ext cx="11706225" cy="6129370"/>
          </a:xfrm>
          <a:prstGeom prst="rect">
            <a:avLst/>
          </a:prstGeom>
          <a:noFill/>
          <a:effectLst>
            <a:outerShdw blurRad="50800" dist="38100" dir="5400000" algn="t" rotWithShape="0">
              <a:prstClr val="black">
                <a:alpha val="40000"/>
              </a:prstClr>
            </a:outerShdw>
          </a:effectLst>
        </p:spPr>
        <p:txBody>
          <a:bodyPr wrap="square">
            <a:spAutoFit/>
          </a:bodyPr>
          <a:lstStyle/>
          <a:p>
            <a:pPr algn="ctr">
              <a:lnSpc>
                <a:spcPct val="115000"/>
              </a:lnSpc>
              <a:spcAft>
                <a:spcPts val="800"/>
              </a:spcAft>
              <a:buNone/>
            </a:pPr>
            <a:r>
              <a:rPr lang="en-AT" sz="1400" b="1" u="sng" kern="100" dirty="0">
                <a:effectLst/>
                <a:latin typeface="Aptos" panose="020B0004020202020204" pitchFamily="34" charset="0"/>
                <a:ea typeface="Aptos" panose="020B0004020202020204" pitchFamily="34" charset="0"/>
                <a:cs typeface="Times New Roman" panose="02020603050405020304" pitchFamily="18" charset="0"/>
              </a:rPr>
              <a:t>PESTLE Analysis</a:t>
            </a:r>
          </a:p>
          <a:p>
            <a:pPr algn="ctr">
              <a:lnSpc>
                <a:spcPct val="115000"/>
              </a:lnSpc>
              <a:spcAft>
                <a:spcPts val="800"/>
              </a:spcAft>
              <a:buNone/>
            </a:pPr>
            <a:r>
              <a:rPr lang="en-AT" sz="1400" b="1" u="sng" kern="100" dirty="0">
                <a:effectLst/>
                <a:latin typeface="Aptos" panose="020B0004020202020204" pitchFamily="34" charset="0"/>
                <a:ea typeface="Aptos" panose="020B0004020202020204" pitchFamily="34" charset="0"/>
                <a:cs typeface="Times New Roman" panose="02020603050405020304" pitchFamily="18" charset="0"/>
              </a:rPr>
              <a:t>Lufthansa Airlines</a:t>
            </a:r>
          </a:p>
          <a:p>
            <a:pPr algn="ctr">
              <a:lnSpc>
                <a:spcPct val="115000"/>
              </a:lnSpc>
              <a:spcAft>
                <a:spcPts val="800"/>
              </a:spcAft>
              <a:buNone/>
            </a:pPr>
            <a:r>
              <a:rPr lang="en-AT" sz="1400" b="1" u="sng" kern="100" dirty="0">
                <a:effectLst/>
                <a:latin typeface="Aptos" panose="020B0004020202020204" pitchFamily="34" charset="0"/>
                <a:ea typeface="Aptos" panose="020B0004020202020204" pitchFamily="34" charset="0"/>
                <a:cs typeface="Times New Roman" panose="02020603050405020304" pitchFamily="18" charset="0"/>
              </a:rPr>
              <a:t>(Flight Operations &amp; Delay Analytics Project)</a:t>
            </a:r>
          </a:p>
          <a:p>
            <a:r>
              <a:rPr lang="en-AT" sz="1200" kern="100" dirty="0">
                <a:effectLst/>
                <a:latin typeface="Aptos" panose="020B0004020202020204" pitchFamily="34" charset="0"/>
                <a:ea typeface="Aptos" panose="020B0004020202020204" pitchFamily="34" charset="0"/>
                <a:cs typeface="Times New Roman" panose="02020603050405020304" pitchFamily="18" charset="0"/>
              </a:rPr>
              <a:t>This PESTLE analysis evaluates the external factors influencing Lufthansa Airlines’ flight operations, with a specific focus on delays, cancellations, peak vs off-peak performance, and operational efficiency, as </a:t>
            </a:r>
            <a:r>
              <a:rPr lang="en-AT" sz="1200" kern="100" dirty="0" err="1">
                <a:effectLst/>
                <a:latin typeface="Aptos" panose="020B0004020202020204" pitchFamily="34" charset="0"/>
                <a:ea typeface="Aptos" panose="020B0004020202020204" pitchFamily="34" charset="0"/>
                <a:cs typeface="Times New Roman" panose="02020603050405020304" pitchFamily="18" charset="0"/>
              </a:rPr>
              <a:t>analyzed</a:t>
            </a:r>
            <a:r>
              <a:rPr lang="en-AT" sz="1200" kern="100" dirty="0">
                <a:effectLst/>
                <a:latin typeface="Aptos" panose="020B0004020202020204" pitchFamily="34" charset="0"/>
                <a:ea typeface="Aptos" panose="020B0004020202020204" pitchFamily="34" charset="0"/>
                <a:cs typeface="Times New Roman" panose="02020603050405020304" pitchFamily="18" charset="0"/>
              </a:rPr>
              <a:t> through Power BI.</a:t>
            </a:r>
            <a:br>
              <a:rPr lang="en-AT" sz="1200" kern="100" dirty="0">
                <a:effectLst/>
                <a:latin typeface="Aptos" panose="020B0004020202020204" pitchFamily="34" charset="0"/>
                <a:ea typeface="Aptos" panose="020B0004020202020204" pitchFamily="34" charset="0"/>
                <a:cs typeface="Times New Roman" panose="02020603050405020304" pitchFamily="18" charset="0"/>
              </a:rPr>
            </a:br>
            <a:br>
              <a:rPr lang="en-AT" sz="1200" kern="100" dirty="0">
                <a:effectLst/>
                <a:latin typeface="Aptos" panose="020B0004020202020204" pitchFamily="34" charset="0"/>
                <a:ea typeface="Aptos" panose="020B0004020202020204" pitchFamily="34" charset="0"/>
                <a:cs typeface="Times New Roman" panose="02020603050405020304" pitchFamily="18" charset="0"/>
              </a:rPr>
            </a:br>
            <a:r>
              <a:rPr lang="en-AT" sz="1200" kern="100" dirty="0">
                <a:effectLst/>
                <a:latin typeface="Aptos" panose="020B0004020202020204" pitchFamily="34" charset="0"/>
                <a:ea typeface="Aptos" panose="020B0004020202020204" pitchFamily="34" charset="0"/>
                <a:cs typeface="Times New Roman" panose="02020603050405020304" pitchFamily="18" charset="0"/>
              </a:rPr>
              <a:t>     </a:t>
            </a:r>
            <a:r>
              <a:rPr lang="en-AT" sz="1200" b="1" dirty="0"/>
              <a:t>P – Political Factors</a:t>
            </a:r>
          </a:p>
          <a:p>
            <a:pPr marL="171450" lvl="0" indent="-171450">
              <a:buFont typeface="Arial" panose="020B0604020202020204" pitchFamily="34" charset="0"/>
              <a:buChar char="•"/>
            </a:pPr>
            <a:r>
              <a:rPr lang="en-AT" sz="1200" dirty="0"/>
              <a:t>European aviation regulations (EASA, ICAO, national aviation authorities) strongly influence Lufthansa’s operational standards, flight scheduling, and delay reporting requirements.</a:t>
            </a:r>
          </a:p>
          <a:p>
            <a:pPr marL="171450" lvl="0" indent="-171450">
              <a:buFont typeface="Arial" panose="020B0604020202020204" pitchFamily="34" charset="0"/>
              <a:buChar char="•"/>
            </a:pPr>
            <a:r>
              <a:rPr lang="en-AT" sz="1200" dirty="0"/>
              <a:t>Air Traffic Control (ATC) policies across European airspace significantly impact congestion, slot availability, and departure punctuality.</a:t>
            </a:r>
          </a:p>
          <a:p>
            <a:pPr marL="171450" lvl="0" indent="-171450">
              <a:buFont typeface="Arial" panose="020B0604020202020204" pitchFamily="34" charset="0"/>
              <a:buChar char="•"/>
            </a:pPr>
            <a:r>
              <a:rPr lang="en-AT" sz="1200" dirty="0"/>
              <a:t>Political events such as ATC strikes, airport staff strikes, or cross-border airspace restrictions frequently lead to systemic delays and cancellations for Lufthansa.</a:t>
            </a:r>
          </a:p>
          <a:p>
            <a:pPr marL="171450" lvl="0" indent="-171450">
              <a:buFont typeface="Arial" panose="020B0604020202020204" pitchFamily="34" charset="0"/>
              <a:buChar char="•"/>
            </a:pPr>
            <a:r>
              <a:rPr lang="en-AT" sz="1200" dirty="0"/>
              <a:t>Bilateral and multilateral international air service agreements determine Lufthansa’s route access, frequency, and airport slot allocations.</a:t>
            </a:r>
          </a:p>
          <a:p>
            <a:pPr marL="171450" indent="-171450">
              <a:buFont typeface="Arial" panose="020B0604020202020204" pitchFamily="34" charset="0"/>
              <a:buChar char="•"/>
            </a:pPr>
            <a:r>
              <a:rPr lang="en-AT" sz="1200" dirty="0"/>
              <a:t>Heightened security and border control policies increase turnaround times, particularly on international routes.</a:t>
            </a:r>
            <a:br>
              <a:rPr lang="en-AT" sz="1200" dirty="0"/>
            </a:br>
            <a:endParaRPr lang="en-AT" sz="1200" dirty="0"/>
          </a:p>
          <a:p>
            <a:pPr marL="171450" indent="-171450">
              <a:buFont typeface="Arial" panose="020B0604020202020204" pitchFamily="34" charset="0"/>
              <a:buChar char="•"/>
            </a:pPr>
            <a:r>
              <a:rPr lang="en-AT" sz="1200" b="1" dirty="0"/>
              <a:t>E – Economic Factors</a:t>
            </a:r>
          </a:p>
          <a:p>
            <a:pPr marL="171450" lvl="0" indent="-171450">
              <a:buFont typeface="Arial" panose="020B0604020202020204" pitchFamily="34" charset="0"/>
              <a:buChar char="•"/>
            </a:pPr>
            <a:r>
              <a:rPr lang="en-AT" sz="1200" dirty="0"/>
              <a:t>Fuel price volatility is one of the largest cost drivers for Lufthansa and directly affects operational decisions, including scheduling buffers and aircraft utilization.</a:t>
            </a:r>
          </a:p>
          <a:p>
            <a:pPr marL="171450" lvl="0" indent="-171450">
              <a:buFont typeface="Arial" panose="020B0604020202020204" pitchFamily="34" charset="0"/>
              <a:buChar char="•"/>
            </a:pPr>
            <a:r>
              <a:rPr lang="en-AT" sz="1200" dirty="0"/>
              <a:t>Flight delays and cancellations generate substantial financial costs, including passenger compensation, rebooking, crew overtime, and operational disruption.</a:t>
            </a:r>
          </a:p>
          <a:p>
            <a:pPr marL="171450" lvl="0" indent="-171450">
              <a:buFont typeface="Arial" panose="020B0604020202020204" pitchFamily="34" charset="0"/>
              <a:buChar char="•"/>
            </a:pPr>
            <a:r>
              <a:rPr lang="en-AT" sz="1200" dirty="0"/>
              <a:t>Peak-hour congestion increases operational inefficiencies, resulting in higher cost per flight during high-demand periods.</a:t>
            </a:r>
            <a:br>
              <a:rPr lang="en-AT" sz="1200" dirty="0"/>
            </a:br>
            <a:r>
              <a:rPr lang="en-AT" sz="1200" dirty="0"/>
              <a:t>Economic slowdowns lead to cost-optimization strategies, often reducing operational slack and increasing delay risk.</a:t>
            </a:r>
          </a:p>
          <a:p>
            <a:r>
              <a:rPr lang="en-AT" sz="1200" dirty="0"/>
              <a:t>Seasonal demand fluctuations (business vs leisure travel) create imbalances between peak and off-peak operations, directly affecting delay patterns.</a:t>
            </a:r>
            <a:br>
              <a:rPr lang="en-AT" sz="1200" dirty="0"/>
            </a:br>
            <a:br>
              <a:rPr lang="en-AT" sz="1200" dirty="0"/>
            </a:br>
            <a:r>
              <a:rPr lang="en-AT" sz="1200" dirty="0"/>
              <a:t>     </a:t>
            </a:r>
            <a:r>
              <a:rPr lang="en-AT" sz="1200" b="1" dirty="0"/>
              <a:t>S – Social Factors</a:t>
            </a:r>
          </a:p>
          <a:p>
            <a:pPr marL="171450" lvl="0" indent="-171450">
              <a:buFont typeface="Arial" panose="020B0604020202020204" pitchFamily="34" charset="0"/>
              <a:buChar char="•"/>
            </a:pPr>
            <a:r>
              <a:rPr lang="en-AT" sz="1200" dirty="0"/>
              <a:t>Passenger expectations for on-time performance and transparent communication are extremely high for a premium carrier like Lufthansa.</a:t>
            </a:r>
          </a:p>
          <a:p>
            <a:pPr marL="171450" lvl="0" indent="-171450">
              <a:buFont typeface="Arial" panose="020B0604020202020204" pitchFamily="34" charset="0"/>
              <a:buChar char="•"/>
            </a:pPr>
            <a:r>
              <a:rPr lang="en-AT" sz="1200" dirty="0"/>
              <a:t>Frequent delays negatively impact brand reputation and customer loyalty, especially among business </a:t>
            </a:r>
            <a:r>
              <a:rPr lang="en-AT" sz="1200" dirty="0" err="1"/>
              <a:t>travelers</a:t>
            </a:r>
            <a:r>
              <a:rPr lang="en-AT" sz="1200" dirty="0"/>
              <a:t>.</a:t>
            </a:r>
          </a:p>
          <a:p>
            <a:pPr marL="171450" lvl="0" indent="-171450">
              <a:buFont typeface="Arial" panose="020B0604020202020204" pitchFamily="34" charset="0"/>
              <a:buChar char="•"/>
            </a:pPr>
            <a:r>
              <a:rPr lang="en-AT" sz="1200" dirty="0"/>
              <a:t>Peak-hour delays disproportionately affect time-sensitive corporate passengers, Lufthansa’s core customer segment.</a:t>
            </a:r>
          </a:p>
          <a:p>
            <a:pPr marL="171450" lvl="0" indent="-171450">
              <a:buFont typeface="Arial" panose="020B0604020202020204" pitchFamily="34" charset="0"/>
              <a:buChar char="•"/>
            </a:pPr>
            <a:r>
              <a:rPr lang="en-AT" sz="1200" dirty="0"/>
              <a:t>Social media and travel review platforms amplify negative delay experiences, increasing reputational risk.</a:t>
            </a:r>
          </a:p>
          <a:p>
            <a:pPr marL="171450" lvl="0" indent="-171450">
              <a:buFont typeface="Arial" panose="020B0604020202020204" pitchFamily="34" charset="0"/>
              <a:buChar char="•"/>
            </a:pPr>
            <a:r>
              <a:rPr lang="en-AT" sz="1200" dirty="0"/>
              <a:t>Increased passenger awareness of EU261 compensation rights places additional pressure on Lufthansa to minimize delays.</a:t>
            </a:r>
          </a:p>
          <a:p>
            <a:pPr marL="171450" lvl="0" indent="-171450">
              <a:buFont typeface="Arial" panose="020B0604020202020204" pitchFamily="34" charset="0"/>
              <a:buChar char="•"/>
            </a:pPr>
            <a:endParaRPr lang="en-AT" sz="1200" dirty="0"/>
          </a:p>
          <a:p>
            <a:pPr marL="171450" lvl="0" indent="-171450">
              <a:buFont typeface="Arial" panose="020B0604020202020204" pitchFamily="34" charset="0"/>
              <a:buChar char="•"/>
            </a:pPr>
            <a:endParaRPr lang="en-AT" sz="1200" dirty="0"/>
          </a:p>
          <a:p>
            <a:endParaRPr lang="en-AT"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85988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F92DD1-4B3C-526F-78FC-50C7FA3B77EF}"/>
              </a:ext>
            </a:extLst>
          </p:cNvPr>
          <p:cNvSpPr txBox="1"/>
          <p:nvPr/>
        </p:nvSpPr>
        <p:spPr>
          <a:xfrm>
            <a:off x="171450" y="180303"/>
            <a:ext cx="11677650" cy="3868495"/>
          </a:xfrm>
          <a:prstGeom prst="rect">
            <a:avLst/>
          </a:prstGeom>
          <a:noFill/>
          <a:effectLst>
            <a:outerShdw blurRad="50800" dist="38100" dir="5400000" algn="t" rotWithShape="0">
              <a:prstClr val="black">
                <a:alpha val="40000"/>
              </a:prstClr>
            </a:outerShdw>
          </a:effectLst>
        </p:spPr>
        <p:txBody>
          <a:bodyPr wrap="square">
            <a:spAutoFit/>
          </a:bodyPr>
          <a:lstStyle/>
          <a:p>
            <a:pPr>
              <a:lnSpc>
                <a:spcPct val="115000"/>
              </a:lnSpc>
              <a:spcAft>
                <a:spcPts val="800"/>
              </a:spcAft>
              <a:buNone/>
            </a:pPr>
            <a:r>
              <a:rPr lang="en-AT" sz="1200" b="1" kern="100" dirty="0">
                <a:effectLst/>
                <a:latin typeface="Aptos" panose="020B0004020202020204" pitchFamily="34" charset="0"/>
                <a:ea typeface="Aptos" panose="020B0004020202020204" pitchFamily="34" charset="0"/>
                <a:cs typeface="Times New Roman" panose="02020603050405020304" pitchFamily="18" charset="0"/>
              </a:rPr>
              <a:t>T – Technological Factors</a:t>
            </a:r>
            <a:endParaRPr lang="en-AT" sz="1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Lufthansa relies on complex flight operations systems, aircraft telemetry, airport IT platforms, and ATC data feeds to manage punctuality and delays.</a:t>
            </a:r>
          </a:p>
          <a:p>
            <a:pPr marL="342900" lvl="0" indent="-342900">
              <a:lnSpc>
                <a:spcPct val="115000"/>
              </a:lnSpc>
              <a:spcAft>
                <a:spcPts val="800"/>
              </a:spcAft>
              <a:buSzPts val="1000"/>
              <a:buFont typeface="Symbol" panose="05050102010706020507" pitchFamily="18" charset="2"/>
              <a:buChar char=""/>
              <a:tabLst>
                <a:tab pos="4572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Power BI analytics enables Lufthansa to:</a:t>
            </a:r>
          </a:p>
          <a:p>
            <a:pPr marL="742950" lvl="1" indent="-285750">
              <a:lnSpc>
                <a:spcPct val="115000"/>
              </a:lnSpc>
              <a:spcAft>
                <a:spcPts val="800"/>
              </a:spcAft>
              <a:buSzPts val="1000"/>
              <a:buFont typeface="Courier New" panose="02070309020205020404" pitchFamily="49" charset="0"/>
              <a:buChar char="o"/>
              <a:tabLst>
                <a:tab pos="9144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Identify delay causes and patterns</a:t>
            </a:r>
          </a:p>
          <a:p>
            <a:pPr marL="742950" lvl="1" indent="-285750">
              <a:lnSpc>
                <a:spcPct val="115000"/>
              </a:lnSpc>
              <a:spcAft>
                <a:spcPts val="800"/>
              </a:spcAft>
              <a:buSzPts val="1000"/>
              <a:buFont typeface="Courier New" panose="02070309020205020404" pitchFamily="49" charset="0"/>
              <a:buChar char="o"/>
              <a:tabLst>
                <a:tab pos="9144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Compare peak vs off-peak operational performance</a:t>
            </a:r>
          </a:p>
          <a:p>
            <a:pPr marL="742950" lvl="1" indent="-285750">
              <a:lnSpc>
                <a:spcPct val="115000"/>
              </a:lnSpc>
              <a:spcAft>
                <a:spcPts val="800"/>
              </a:spcAft>
              <a:buSzPts val="1000"/>
              <a:buFont typeface="Courier New" panose="02070309020205020404" pitchFamily="49" charset="0"/>
              <a:buChar char="o"/>
              <a:tabLst>
                <a:tab pos="914400" algn="l"/>
              </a:tabLst>
            </a:pPr>
            <a:r>
              <a:rPr lang="en-AT" sz="1200" kern="100" dirty="0" err="1">
                <a:effectLst/>
                <a:latin typeface="Aptos" panose="020B0004020202020204" pitchFamily="34" charset="0"/>
                <a:ea typeface="Aptos" panose="020B0004020202020204" pitchFamily="34" charset="0"/>
                <a:cs typeface="Times New Roman" panose="02020603050405020304" pitchFamily="18" charset="0"/>
              </a:rPr>
              <a:t>Analyze</a:t>
            </a:r>
            <a:r>
              <a:rPr lang="en-AT" sz="1200" kern="100" dirty="0">
                <a:effectLst/>
                <a:latin typeface="Aptos" panose="020B0004020202020204" pitchFamily="34" charset="0"/>
                <a:ea typeface="Aptos" panose="020B0004020202020204" pitchFamily="34" charset="0"/>
                <a:cs typeface="Times New Roman" panose="02020603050405020304" pitchFamily="18" charset="0"/>
              </a:rPr>
              <a:t> true delay vs process delay gaps</a:t>
            </a:r>
          </a:p>
          <a:p>
            <a:pPr marL="342900" lvl="0" indent="-342900">
              <a:lnSpc>
                <a:spcPct val="115000"/>
              </a:lnSpc>
              <a:spcAft>
                <a:spcPts val="800"/>
              </a:spcAft>
              <a:buSzPts val="1000"/>
              <a:buFont typeface="Symbol" panose="05050102010706020507" pitchFamily="18" charset="2"/>
              <a:buChar char=""/>
              <a:tabLst>
                <a:tab pos="4572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Limited real-time integration between aircraft operations, ground handling, and airport systems can still contribute to avoidable delays.</a:t>
            </a:r>
          </a:p>
          <a:p>
            <a:pPr marL="342900" lvl="0" indent="-342900">
              <a:lnSpc>
                <a:spcPct val="115000"/>
              </a:lnSpc>
              <a:spcAft>
                <a:spcPts val="800"/>
              </a:spcAft>
              <a:buSzPts val="1000"/>
              <a:buFont typeface="Symbol" panose="05050102010706020507" pitchFamily="18" charset="2"/>
              <a:buChar char=""/>
              <a:tabLst>
                <a:tab pos="4572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Advanced analytics and AI present future opportunities for:</a:t>
            </a:r>
          </a:p>
          <a:p>
            <a:pPr marL="742950" lvl="1" indent="-285750">
              <a:lnSpc>
                <a:spcPct val="115000"/>
              </a:lnSpc>
              <a:spcAft>
                <a:spcPts val="800"/>
              </a:spcAft>
              <a:buSzPts val="1000"/>
              <a:buFont typeface="Courier New" panose="02070309020205020404" pitchFamily="49" charset="0"/>
              <a:buChar char="o"/>
              <a:tabLst>
                <a:tab pos="9144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Delay prediction</a:t>
            </a:r>
          </a:p>
          <a:p>
            <a:pPr marL="742950" lvl="1" indent="-285750">
              <a:lnSpc>
                <a:spcPct val="115000"/>
              </a:lnSpc>
              <a:spcAft>
                <a:spcPts val="800"/>
              </a:spcAft>
              <a:buSzPts val="1000"/>
              <a:buFont typeface="Courier New" panose="02070309020205020404" pitchFamily="49" charset="0"/>
              <a:buChar char="o"/>
              <a:tabLst>
                <a:tab pos="9144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Crew and aircraft rotation optimization</a:t>
            </a:r>
          </a:p>
          <a:p>
            <a:pPr marL="742950" lvl="1" indent="-285750">
              <a:lnSpc>
                <a:spcPct val="115000"/>
              </a:lnSpc>
              <a:spcAft>
                <a:spcPts val="800"/>
              </a:spcAft>
              <a:buSzPts val="1000"/>
              <a:buFont typeface="Courier New" panose="02070309020205020404" pitchFamily="49" charset="0"/>
              <a:buChar char="o"/>
              <a:tabLst>
                <a:tab pos="9144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Proactive disruption management</a:t>
            </a:r>
            <a:br>
              <a:rPr lang="en-AT" sz="1200" kern="100" dirty="0">
                <a:effectLst/>
                <a:latin typeface="Aptos" panose="020B0004020202020204" pitchFamily="34" charset="0"/>
                <a:ea typeface="Aptos" panose="020B0004020202020204" pitchFamily="34" charset="0"/>
                <a:cs typeface="Times New Roman" panose="02020603050405020304" pitchFamily="18" charset="0"/>
              </a:rPr>
            </a:br>
            <a:br>
              <a:rPr lang="en-AT" sz="1200" kern="100" dirty="0">
                <a:effectLst/>
                <a:latin typeface="Aptos" panose="020B0004020202020204" pitchFamily="34" charset="0"/>
                <a:ea typeface="Aptos" panose="020B0004020202020204" pitchFamily="34" charset="0"/>
                <a:cs typeface="Times New Roman" panose="02020603050405020304" pitchFamily="18" charset="0"/>
              </a:rPr>
            </a:br>
            <a:endParaRPr lang="en-AT"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BAF1E00F-0075-905C-6C43-3A7E6126A49F}"/>
              </a:ext>
            </a:extLst>
          </p:cNvPr>
          <p:cNvSpPr txBox="1"/>
          <p:nvPr/>
        </p:nvSpPr>
        <p:spPr>
          <a:xfrm>
            <a:off x="171450" y="3574017"/>
            <a:ext cx="11153775" cy="1868973"/>
          </a:xfrm>
          <a:prstGeom prst="rect">
            <a:avLst/>
          </a:prstGeom>
          <a:noFill/>
          <a:effectLst>
            <a:outerShdw blurRad="50800" dist="38100" dir="5400000" algn="t" rotWithShape="0">
              <a:prstClr val="black">
                <a:alpha val="40000"/>
              </a:prstClr>
            </a:outerShdw>
          </a:effectLst>
        </p:spPr>
        <p:txBody>
          <a:bodyPr wrap="square">
            <a:spAutoFit/>
          </a:bodyPr>
          <a:lstStyle/>
          <a:p>
            <a:pPr>
              <a:lnSpc>
                <a:spcPct val="115000"/>
              </a:lnSpc>
              <a:spcAft>
                <a:spcPts val="800"/>
              </a:spcAft>
              <a:buNone/>
            </a:pPr>
            <a:r>
              <a:rPr lang="en-AT" sz="1200" b="1" kern="100" dirty="0">
                <a:effectLst/>
                <a:latin typeface="Aptos" panose="020B0004020202020204" pitchFamily="34" charset="0"/>
                <a:ea typeface="Aptos" panose="020B0004020202020204" pitchFamily="34" charset="0"/>
                <a:cs typeface="Times New Roman" panose="02020603050405020304" pitchFamily="18" charset="0"/>
              </a:rPr>
              <a:t>E – Environmental Factors</a:t>
            </a:r>
            <a:endParaRPr lang="en-AT" sz="1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Weather conditions (fog, snow, storms, heatwaves) remain a primary external cause of flight delays for Lufthansa.</a:t>
            </a:r>
          </a:p>
          <a:p>
            <a:pPr marL="342900" lvl="0" indent="-342900">
              <a:lnSpc>
                <a:spcPct val="115000"/>
              </a:lnSpc>
              <a:spcAft>
                <a:spcPts val="800"/>
              </a:spcAft>
              <a:buSzPts val="1000"/>
              <a:buFont typeface="Symbol" panose="05050102010706020507" pitchFamily="18" charset="2"/>
              <a:buChar char=""/>
              <a:tabLst>
                <a:tab pos="4572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Climate change increases the frequency of extreme weather events, particularly impacting summer peak operations.</a:t>
            </a:r>
          </a:p>
          <a:p>
            <a:pPr marL="342900" lvl="0" indent="-342900">
              <a:lnSpc>
                <a:spcPct val="115000"/>
              </a:lnSpc>
              <a:spcAft>
                <a:spcPts val="800"/>
              </a:spcAft>
              <a:buSzPts val="1000"/>
              <a:buFont typeface="Symbol" panose="05050102010706020507" pitchFamily="18" charset="2"/>
              <a:buChar char=""/>
              <a:tabLst>
                <a:tab pos="4572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Prolonged ground delays and airborne holding increase fuel consumption and carbon emissions.</a:t>
            </a:r>
          </a:p>
          <a:p>
            <a:pPr marL="342900" lvl="0" indent="-342900">
              <a:lnSpc>
                <a:spcPct val="115000"/>
              </a:lnSpc>
              <a:spcAft>
                <a:spcPts val="800"/>
              </a:spcAft>
              <a:buSzPts val="1000"/>
              <a:buFont typeface="Symbol" panose="05050102010706020507" pitchFamily="18" charset="2"/>
              <a:buChar char=""/>
              <a:tabLst>
                <a:tab pos="4572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Lufthansa faces growing pressure to reduce environmental impact while maintaining operational reliability.</a:t>
            </a:r>
          </a:p>
          <a:p>
            <a:pPr marL="342900" lvl="0" indent="-342900">
              <a:lnSpc>
                <a:spcPct val="115000"/>
              </a:lnSpc>
              <a:spcAft>
                <a:spcPts val="800"/>
              </a:spcAft>
              <a:buSzPts val="1000"/>
              <a:buFont typeface="Symbol" panose="05050102010706020507" pitchFamily="18" charset="2"/>
              <a:buChar char=""/>
              <a:tabLst>
                <a:tab pos="4572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Efficient delay management directly supports Lufthansa’s sustainability and emissions reduction goals.</a:t>
            </a:r>
          </a:p>
        </p:txBody>
      </p:sp>
    </p:spTree>
    <p:extLst>
      <p:ext uri="{BB962C8B-B14F-4D97-AF65-F5344CB8AC3E}">
        <p14:creationId xmlns:p14="http://schemas.microsoft.com/office/powerpoint/2010/main" val="1937068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41DF41-8954-22B5-C596-77378A197774}"/>
              </a:ext>
            </a:extLst>
          </p:cNvPr>
          <p:cNvSpPr txBox="1"/>
          <p:nvPr/>
        </p:nvSpPr>
        <p:spPr>
          <a:xfrm>
            <a:off x="209550" y="101616"/>
            <a:ext cx="11658600" cy="1868973"/>
          </a:xfrm>
          <a:prstGeom prst="rect">
            <a:avLst/>
          </a:prstGeom>
          <a:noFill/>
          <a:effectLst>
            <a:outerShdw blurRad="50800" dist="38100" dir="5400000" algn="t" rotWithShape="0">
              <a:prstClr val="black">
                <a:alpha val="40000"/>
              </a:prstClr>
            </a:outerShdw>
          </a:effectLst>
        </p:spPr>
        <p:txBody>
          <a:bodyPr wrap="square">
            <a:spAutoFit/>
          </a:bodyPr>
          <a:lstStyle/>
          <a:p>
            <a:pPr>
              <a:lnSpc>
                <a:spcPct val="115000"/>
              </a:lnSpc>
              <a:spcAft>
                <a:spcPts val="800"/>
              </a:spcAft>
              <a:buNone/>
            </a:pPr>
            <a:r>
              <a:rPr lang="en-AT" sz="1200" b="1" kern="100" dirty="0">
                <a:effectLst/>
                <a:latin typeface="Aptos" panose="020B0004020202020204" pitchFamily="34" charset="0"/>
                <a:ea typeface="Aptos" panose="020B0004020202020204" pitchFamily="34" charset="0"/>
                <a:cs typeface="Times New Roman" panose="02020603050405020304" pitchFamily="18" charset="0"/>
              </a:rPr>
              <a:t>L – Legal Factors</a:t>
            </a:r>
          </a:p>
          <a:p>
            <a:pPr marL="342900" lvl="0" indent="-342900">
              <a:lnSpc>
                <a:spcPct val="115000"/>
              </a:lnSpc>
              <a:spcAft>
                <a:spcPts val="800"/>
              </a:spcAft>
              <a:buSzPts val="1000"/>
              <a:buFont typeface="Symbol" panose="05050102010706020507" pitchFamily="18" charset="2"/>
              <a:buChar char=""/>
              <a:tabLst>
                <a:tab pos="4572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EU passenger rights regulations (EU261) impose mandatory compensation for delays and cancellations, creating direct financial exposure.</a:t>
            </a:r>
          </a:p>
          <a:p>
            <a:pPr marL="342900" lvl="0" indent="-342900">
              <a:lnSpc>
                <a:spcPct val="115000"/>
              </a:lnSpc>
              <a:spcAft>
                <a:spcPts val="800"/>
              </a:spcAft>
              <a:buSzPts val="1000"/>
              <a:buFont typeface="Symbol" panose="05050102010706020507" pitchFamily="18" charset="2"/>
              <a:buChar char=""/>
              <a:tabLst>
                <a:tab pos="4572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Accurate classification of delay causes is legally critical to determine compensation eligibility.</a:t>
            </a:r>
          </a:p>
          <a:p>
            <a:pPr marL="342900" lvl="0" indent="-342900">
              <a:lnSpc>
                <a:spcPct val="115000"/>
              </a:lnSpc>
              <a:spcAft>
                <a:spcPts val="800"/>
              </a:spcAft>
              <a:buSzPts val="1000"/>
              <a:buFont typeface="Symbol" panose="05050102010706020507" pitchFamily="18" charset="2"/>
              <a:buChar char=""/>
              <a:tabLst>
                <a:tab pos="4572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Misreporting or misclassification of delays can lead to legal disputes, regulatory penalties, and reputational damage.</a:t>
            </a:r>
          </a:p>
          <a:p>
            <a:pPr marL="342900" lvl="0" indent="-342900">
              <a:lnSpc>
                <a:spcPct val="115000"/>
              </a:lnSpc>
              <a:spcAft>
                <a:spcPts val="800"/>
              </a:spcAft>
              <a:buSzPts val="1000"/>
              <a:buFont typeface="Symbol" panose="05050102010706020507" pitchFamily="18" charset="2"/>
              <a:buChar char=""/>
              <a:tabLst>
                <a:tab pos="4572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Lufthansa must comply with GDPR when handling passenger, flight, and operational data used in analytics.</a:t>
            </a:r>
          </a:p>
          <a:p>
            <a:pPr marL="342900" lvl="0" indent="-342900">
              <a:lnSpc>
                <a:spcPct val="115000"/>
              </a:lnSpc>
              <a:spcAft>
                <a:spcPts val="800"/>
              </a:spcAft>
              <a:buSzPts val="1000"/>
              <a:buFont typeface="Symbol" panose="05050102010706020507" pitchFamily="18" charset="2"/>
              <a:buChar char=""/>
              <a:tabLst>
                <a:tab pos="4572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Increasing regulatory scrutiny reinforces the need for transparent, data-driven delay reporting.</a:t>
            </a:r>
          </a:p>
        </p:txBody>
      </p:sp>
      <p:sp>
        <p:nvSpPr>
          <p:cNvPr id="5" name="TextBox 4">
            <a:extLst>
              <a:ext uri="{FF2B5EF4-FFF2-40B4-BE49-F238E27FC236}">
                <a16:creationId xmlns:a16="http://schemas.microsoft.com/office/drawing/2014/main" id="{457F336F-48C9-7E38-9227-C3F939E1C53B}"/>
              </a:ext>
            </a:extLst>
          </p:cNvPr>
          <p:cNvSpPr txBox="1"/>
          <p:nvPr/>
        </p:nvSpPr>
        <p:spPr>
          <a:xfrm>
            <a:off x="209549" y="2055814"/>
            <a:ext cx="11658599" cy="2866619"/>
          </a:xfrm>
          <a:prstGeom prst="rect">
            <a:avLst/>
          </a:prstGeom>
          <a:noFill/>
          <a:effectLst>
            <a:outerShdw blurRad="50800" dist="38100" dir="5400000" algn="t" rotWithShape="0">
              <a:prstClr val="black">
                <a:alpha val="40000"/>
              </a:prstClr>
            </a:outerShdw>
          </a:effectLst>
        </p:spPr>
        <p:txBody>
          <a:bodyPr wrap="square">
            <a:spAutoFit/>
          </a:bodyPr>
          <a:lstStyle/>
          <a:p>
            <a:pPr>
              <a:lnSpc>
                <a:spcPct val="115000"/>
              </a:lnSpc>
              <a:spcAft>
                <a:spcPts val="800"/>
              </a:spcAft>
              <a:buNone/>
            </a:pPr>
            <a:r>
              <a:rPr lang="en-AT" sz="1200" b="1" kern="100" dirty="0">
                <a:effectLst/>
                <a:latin typeface="Aptos" panose="020B0004020202020204" pitchFamily="34" charset="0"/>
                <a:ea typeface="Aptos" panose="020B0004020202020204" pitchFamily="34" charset="0"/>
                <a:cs typeface="Times New Roman" panose="02020603050405020304" pitchFamily="18" charset="0"/>
              </a:rPr>
              <a:t>Strategic Insight for Lufthansa Airlines</a:t>
            </a:r>
          </a:p>
          <a:p>
            <a:pPr>
              <a:lnSpc>
                <a:spcPct val="115000"/>
              </a:lnSpc>
              <a:spcAft>
                <a:spcPts val="800"/>
              </a:spcAft>
              <a:buNone/>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This analysis highlights that flight delays at Lufthansa are not purely operational issues but are driven by a complex interaction of political, economic, technological, environmental, and legal factors.</a:t>
            </a:r>
          </a:p>
          <a:p>
            <a:pPr>
              <a:lnSpc>
                <a:spcPct val="115000"/>
              </a:lnSpc>
              <a:spcAft>
                <a:spcPts val="800"/>
              </a:spcAft>
              <a:buNone/>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By leveraging Power BI–based flight and delay analytics, Lufthansa can:</a:t>
            </a:r>
          </a:p>
          <a:p>
            <a:pPr marL="342900" lvl="0" indent="-342900">
              <a:lnSpc>
                <a:spcPct val="115000"/>
              </a:lnSpc>
              <a:spcAft>
                <a:spcPts val="800"/>
              </a:spcAft>
              <a:buSzPts val="1000"/>
              <a:buFont typeface="Symbol" panose="05050102010706020507" pitchFamily="18" charset="2"/>
              <a:buChar char=""/>
              <a:tabLst>
                <a:tab pos="4572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Identify high-risk peak-hour operational windows</a:t>
            </a:r>
          </a:p>
          <a:p>
            <a:pPr marL="342900" lvl="0" indent="-342900">
              <a:lnSpc>
                <a:spcPct val="115000"/>
              </a:lnSpc>
              <a:spcAft>
                <a:spcPts val="800"/>
              </a:spcAft>
              <a:buSzPts val="1000"/>
              <a:buFont typeface="Symbol" panose="05050102010706020507" pitchFamily="18" charset="2"/>
              <a:buChar char=""/>
              <a:tabLst>
                <a:tab pos="4572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Reduce avoidable delays through process optimization</a:t>
            </a:r>
          </a:p>
          <a:p>
            <a:pPr marL="342900" lvl="0" indent="-342900">
              <a:lnSpc>
                <a:spcPct val="115000"/>
              </a:lnSpc>
              <a:spcAft>
                <a:spcPts val="800"/>
              </a:spcAft>
              <a:buSzPts val="1000"/>
              <a:buFont typeface="Symbol" panose="05050102010706020507" pitchFamily="18" charset="2"/>
              <a:buChar char=""/>
              <a:tabLst>
                <a:tab pos="457200" algn="l"/>
              </a:tabLst>
            </a:pPr>
            <a:r>
              <a:rPr lang="en-AT" sz="1200" kern="100" dirty="0">
                <a:effectLst/>
                <a:latin typeface="Aptos" panose="020B0004020202020204" pitchFamily="34" charset="0"/>
                <a:ea typeface="Aptos" panose="020B0004020202020204" pitchFamily="34" charset="0"/>
                <a:cs typeface="Times New Roman" panose="02020603050405020304" pitchFamily="18" charset="0"/>
              </a:rPr>
              <a:t>Improve cost efficiency and customer satisfaction</a:t>
            </a:r>
          </a:p>
          <a:p>
            <a:pPr marL="285750" lvl="0" indent="-285750">
              <a:buFont typeface="Arial" panose="020B0604020202020204" pitchFamily="34" charset="0"/>
              <a:buChar char="•"/>
            </a:pPr>
            <a:r>
              <a:rPr lang="en-AT" sz="1200" dirty="0"/>
              <a:t>Strengthen regulatory compliance and reporting accuracy</a:t>
            </a:r>
          </a:p>
          <a:p>
            <a:pPr marL="285750" lvl="0" indent="-285750">
              <a:buFont typeface="Arial" panose="020B0604020202020204" pitchFamily="34" charset="0"/>
              <a:buChar char="•"/>
            </a:pPr>
            <a:r>
              <a:rPr lang="en-AT" sz="1200" dirty="0"/>
              <a:t>Support long-term sustainability and operational resilience</a:t>
            </a:r>
          </a:p>
          <a:p>
            <a:pPr marL="342900" lvl="0" indent="-342900">
              <a:lnSpc>
                <a:spcPct val="115000"/>
              </a:lnSpc>
              <a:spcAft>
                <a:spcPts val="800"/>
              </a:spcAft>
              <a:buSzPts val="1000"/>
              <a:buFont typeface="Symbol" panose="05050102010706020507" pitchFamily="18" charset="2"/>
              <a:buChar char=""/>
              <a:tabLst>
                <a:tab pos="457200" algn="l"/>
              </a:tabLst>
            </a:pPr>
            <a:endParaRPr lang="en-AT"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802774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4B1194-78D0-5651-E927-FF7538534A5E}"/>
              </a:ext>
            </a:extLst>
          </p:cNvPr>
          <p:cNvPicPr>
            <a:picLocks noChangeAspect="1"/>
          </p:cNvPicPr>
          <p:nvPr/>
        </p:nvPicPr>
        <p:blipFill>
          <a:blip r:embed="rId2"/>
          <a:stretch>
            <a:fillRect/>
          </a:stretch>
        </p:blipFill>
        <p:spPr>
          <a:xfrm>
            <a:off x="145508" y="123825"/>
            <a:ext cx="7836976" cy="5076825"/>
          </a:xfrm>
          <a:prstGeom prst="rect">
            <a:avLst/>
          </a:prstGeom>
        </p:spPr>
      </p:pic>
      <p:sp>
        <p:nvSpPr>
          <p:cNvPr id="5" name="TextBox 4">
            <a:extLst>
              <a:ext uri="{FF2B5EF4-FFF2-40B4-BE49-F238E27FC236}">
                <a16:creationId xmlns:a16="http://schemas.microsoft.com/office/drawing/2014/main" id="{F492A241-4311-6E9E-C91E-C4379483A9CB}"/>
              </a:ext>
            </a:extLst>
          </p:cNvPr>
          <p:cNvSpPr txBox="1"/>
          <p:nvPr/>
        </p:nvSpPr>
        <p:spPr>
          <a:xfrm>
            <a:off x="8115300" y="445264"/>
            <a:ext cx="4000500" cy="4247317"/>
          </a:xfrm>
          <a:prstGeom prst="rect">
            <a:avLst/>
          </a:prstGeom>
          <a:noFill/>
          <a:effectLst>
            <a:outerShdw blurRad="50800" dist="38100" dir="5400000" algn="t" rotWithShape="0">
              <a:prstClr val="black">
                <a:alpha val="40000"/>
              </a:prstClr>
            </a:outerShdw>
          </a:effectLst>
        </p:spPr>
        <p:txBody>
          <a:bodyPr wrap="square">
            <a:spAutoFit/>
          </a:bodyPr>
          <a:lstStyle/>
          <a:p>
            <a:pPr>
              <a:buNone/>
            </a:pPr>
            <a:r>
              <a:rPr lang="en-GB" b="1" dirty="0"/>
              <a:t>Data </a:t>
            </a:r>
            <a:r>
              <a:rPr lang="en-GB" b="1" dirty="0" err="1"/>
              <a:t>Modeling</a:t>
            </a:r>
            <a:r>
              <a:rPr lang="en-GB" b="1" dirty="0"/>
              <a:t> Approach</a:t>
            </a:r>
            <a:endParaRPr lang="en-GB" dirty="0"/>
          </a:p>
          <a:p>
            <a:pPr>
              <a:buFont typeface="Arial" panose="020B0604020202020204" pitchFamily="34" charset="0"/>
              <a:buChar char="•"/>
            </a:pPr>
            <a:r>
              <a:rPr lang="en-GB" dirty="0"/>
              <a:t>The analysis is built on a central </a:t>
            </a:r>
            <a:r>
              <a:rPr lang="en-GB" b="1" dirty="0" err="1"/>
              <a:t>Fact_Flight</a:t>
            </a:r>
            <a:r>
              <a:rPr lang="en-GB" dirty="0"/>
              <a:t> table containing flight-level operational data.</a:t>
            </a:r>
          </a:p>
          <a:p>
            <a:pPr>
              <a:buFont typeface="Arial" panose="020B0604020202020204" pitchFamily="34" charset="0"/>
              <a:buChar char="•"/>
            </a:pPr>
            <a:r>
              <a:rPr lang="en-GB" dirty="0"/>
              <a:t>Supporting analytical tables were created to enable time-based and peak/off-peak analysis.</a:t>
            </a:r>
          </a:p>
          <a:p>
            <a:pPr>
              <a:buFont typeface="Arial" panose="020B0604020202020204" pitchFamily="34" charset="0"/>
              <a:buChar char="•"/>
            </a:pPr>
            <a:r>
              <a:rPr lang="en-GB" dirty="0"/>
              <a:t>Calculated measures (DAX) were used for KPIs such as delays, cancellations, on-time rate, and true vs process delay.</a:t>
            </a:r>
          </a:p>
          <a:p>
            <a:pPr>
              <a:buFont typeface="Arial" panose="020B0604020202020204" pitchFamily="34" charset="0"/>
              <a:buChar char="•"/>
            </a:pPr>
            <a:r>
              <a:rPr lang="en-GB" dirty="0"/>
              <a:t>The model follows a </a:t>
            </a:r>
            <a:r>
              <a:rPr lang="en-GB" b="1" dirty="0"/>
              <a:t>fact-driven analytical design</a:t>
            </a:r>
            <a:r>
              <a:rPr lang="en-GB" dirty="0"/>
              <a:t>, optimized for performance and business insight generation.</a:t>
            </a:r>
          </a:p>
        </p:txBody>
      </p:sp>
      <p:sp>
        <p:nvSpPr>
          <p:cNvPr id="6" name="Rectangle 5">
            <a:extLst>
              <a:ext uri="{FF2B5EF4-FFF2-40B4-BE49-F238E27FC236}">
                <a16:creationId xmlns:a16="http://schemas.microsoft.com/office/drawing/2014/main" id="{6E0CACE3-4F27-5FA9-BA8C-88E04E22AF45}"/>
              </a:ext>
            </a:extLst>
          </p:cNvPr>
          <p:cNvSpPr/>
          <p:nvPr/>
        </p:nvSpPr>
        <p:spPr>
          <a:xfrm>
            <a:off x="8045992" y="123825"/>
            <a:ext cx="4000500" cy="5076825"/>
          </a:xfrm>
          <a:prstGeom prst="rect">
            <a:avLst/>
          </a:prstGeom>
          <a:noFill/>
          <a:ln>
            <a:noFill/>
          </a:ln>
        </p:spPr>
        <p:style>
          <a:lnRef idx="0">
            <a:scrgbClr r="0" g="0" b="0"/>
          </a:lnRef>
          <a:fillRef idx="0">
            <a:scrgbClr r="0" g="0" b="0"/>
          </a:fillRef>
          <a:effectRef idx="0">
            <a:scrgbClr r="0" g="0" b="0"/>
          </a:effectRef>
          <a:fontRef idx="minor">
            <a:schemeClr val="accent3"/>
          </a:fontRef>
        </p:style>
        <p:txBody>
          <a:bodyPr rtlCol="0" anchor="ctr"/>
          <a:lstStyle/>
          <a:p>
            <a:pPr algn="ctr"/>
            <a:endParaRPr lang="en-AT"/>
          </a:p>
        </p:txBody>
      </p:sp>
    </p:spTree>
    <p:extLst>
      <p:ext uri="{BB962C8B-B14F-4D97-AF65-F5344CB8AC3E}">
        <p14:creationId xmlns:p14="http://schemas.microsoft.com/office/powerpoint/2010/main" val="3591833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2DB8C67-EAF6-1D6C-6556-134F9254263A}"/>
              </a:ext>
            </a:extLst>
          </p:cNvPr>
          <p:cNvPicPr>
            <a:picLocks noChangeAspect="1"/>
          </p:cNvPicPr>
          <p:nvPr/>
        </p:nvPicPr>
        <p:blipFill>
          <a:blip r:embed="rId2"/>
          <a:stretch>
            <a:fillRect/>
          </a:stretch>
        </p:blipFill>
        <p:spPr>
          <a:xfrm>
            <a:off x="1766623" y="985895"/>
            <a:ext cx="3781953" cy="885949"/>
          </a:xfrm>
          <a:prstGeom prst="rect">
            <a:avLst/>
          </a:prstGeom>
        </p:spPr>
      </p:pic>
      <p:pic>
        <p:nvPicPr>
          <p:cNvPr id="11" name="Picture 10">
            <a:extLst>
              <a:ext uri="{FF2B5EF4-FFF2-40B4-BE49-F238E27FC236}">
                <a16:creationId xmlns:a16="http://schemas.microsoft.com/office/drawing/2014/main" id="{18D6D14F-554E-C43A-E626-506CDFAE15DF}"/>
              </a:ext>
            </a:extLst>
          </p:cNvPr>
          <p:cNvPicPr>
            <a:picLocks noChangeAspect="1"/>
          </p:cNvPicPr>
          <p:nvPr/>
        </p:nvPicPr>
        <p:blipFill>
          <a:blip r:embed="rId3"/>
          <a:stretch>
            <a:fillRect/>
          </a:stretch>
        </p:blipFill>
        <p:spPr>
          <a:xfrm>
            <a:off x="514350" y="157104"/>
            <a:ext cx="5039428" cy="828791"/>
          </a:xfrm>
          <a:prstGeom prst="rect">
            <a:avLst/>
          </a:prstGeom>
        </p:spPr>
      </p:pic>
      <p:sp>
        <p:nvSpPr>
          <p:cNvPr id="3" name="TextBox 2">
            <a:extLst>
              <a:ext uri="{FF2B5EF4-FFF2-40B4-BE49-F238E27FC236}">
                <a16:creationId xmlns:a16="http://schemas.microsoft.com/office/drawing/2014/main" id="{F68D0EB5-897A-DAE1-59D5-58E4DAAB811A}"/>
              </a:ext>
            </a:extLst>
          </p:cNvPr>
          <p:cNvSpPr txBox="1"/>
          <p:nvPr/>
        </p:nvSpPr>
        <p:spPr>
          <a:xfrm>
            <a:off x="5581650" y="157104"/>
            <a:ext cx="6096000" cy="2246769"/>
          </a:xfrm>
          <a:prstGeom prst="rect">
            <a:avLst/>
          </a:prstGeom>
          <a:noFill/>
        </p:spPr>
        <p:txBody>
          <a:bodyPr wrap="square">
            <a:spAutoFit/>
          </a:bodyPr>
          <a:lstStyle/>
          <a:p>
            <a:r>
              <a:rPr lang="en-GB" sz="1400" b="1" dirty="0"/>
              <a:t>Operational Volume &amp; Reliability</a:t>
            </a:r>
          </a:p>
          <a:p>
            <a:r>
              <a:rPr lang="en-GB" sz="1400" b="1" dirty="0"/>
              <a:t>Total Flights:</a:t>
            </a:r>
            <a:r>
              <a:rPr lang="en-GB" sz="1400" dirty="0"/>
              <a:t> 1,680</a:t>
            </a:r>
          </a:p>
          <a:p>
            <a:r>
              <a:rPr lang="en-GB" sz="1400" b="1" dirty="0"/>
              <a:t>On-time Flights:</a:t>
            </a:r>
            <a:r>
              <a:rPr lang="en-GB" sz="1400" dirty="0"/>
              <a:t> 1,178 (</a:t>
            </a:r>
            <a:r>
              <a:rPr lang="en-GB" sz="1400" b="1" dirty="0"/>
              <a:t>70.12% on-time performance</a:t>
            </a:r>
            <a:r>
              <a:rPr lang="en-GB" sz="1400" dirty="0"/>
              <a:t>)</a:t>
            </a:r>
          </a:p>
          <a:p>
            <a:r>
              <a:rPr lang="en-GB" sz="1400" b="1" dirty="0"/>
              <a:t>Delayed Flights:</a:t>
            </a:r>
            <a:r>
              <a:rPr lang="en-GB" sz="1400" dirty="0"/>
              <a:t> 374 (</a:t>
            </a:r>
            <a:r>
              <a:rPr lang="en-GB" sz="1400" b="1" dirty="0"/>
              <a:t>22.26% delay rate</a:t>
            </a:r>
            <a:r>
              <a:rPr lang="en-GB" sz="1400" dirty="0"/>
              <a:t>)</a:t>
            </a:r>
          </a:p>
          <a:p>
            <a:r>
              <a:rPr lang="en-GB" sz="1400" b="1" dirty="0"/>
              <a:t>Cancelled Flights:</a:t>
            </a:r>
            <a:r>
              <a:rPr lang="en-GB" sz="1400" dirty="0"/>
              <a:t> 128 (</a:t>
            </a:r>
            <a:r>
              <a:rPr lang="en-GB" sz="1400" b="1" dirty="0"/>
              <a:t>7.62% cancellation rate</a:t>
            </a:r>
            <a:r>
              <a:rPr lang="en-GB" sz="1400" dirty="0"/>
              <a:t>)</a:t>
            </a:r>
          </a:p>
          <a:p>
            <a:r>
              <a:rPr lang="en-GB" sz="1400" i="1" dirty="0"/>
              <a:t>“Out of 1,680 Lufthansa flights, just over 70% operated on time.</a:t>
            </a:r>
            <a:br>
              <a:rPr lang="en-GB" sz="1400" i="1" dirty="0"/>
            </a:br>
            <a:r>
              <a:rPr lang="en-GB" sz="1400" i="1" dirty="0"/>
              <a:t>Approximately 22% experienced delays, while cancellations remained below 8%, indicating overall operational stability with clear opportunities to improve punctuality.”</a:t>
            </a:r>
            <a:endParaRPr lang="en-GB" sz="1400" dirty="0"/>
          </a:p>
          <a:p>
            <a:pPr>
              <a:buNone/>
            </a:pPr>
            <a:endParaRPr lang="en-GB" sz="1400" dirty="0"/>
          </a:p>
        </p:txBody>
      </p:sp>
      <p:sp>
        <p:nvSpPr>
          <p:cNvPr id="4" name="Rectangle 3">
            <a:extLst>
              <a:ext uri="{FF2B5EF4-FFF2-40B4-BE49-F238E27FC236}">
                <a16:creationId xmlns:a16="http://schemas.microsoft.com/office/drawing/2014/main" id="{C4316DA2-B563-DDF7-891A-E0BE19ED307B}"/>
              </a:ext>
            </a:extLst>
          </p:cNvPr>
          <p:cNvSpPr/>
          <p:nvPr/>
        </p:nvSpPr>
        <p:spPr>
          <a:xfrm>
            <a:off x="371475" y="157104"/>
            <a:ext cx="11210925" cy="2443221"/>
          </a:xfrm>
          <a:prstGeom prst="rect">
            <a:avLst/>
          </a:prstGeom>
          <a:noFill/>
          <a:ln w="9525" cap="flat" cmpd="sng" algn="ctr">
            <a:solidFill>
              <a:schemeClr val="accent2"/>
            </a:solidFill>
            <a:prstDash val="solid"/>
            <a:round/>
            <a:headEnd type="none" w="med" len="med"/>
            <a:tailEnd type="none" w="med" len="med"/>
          </a:ln>
          <a:scene3d>
            <a:camera prst="perspectiveFront"/>
            <a:lightRig rig="threePt" dir="t"/>
          </a:scene3d>
        </p:spPr>
        <p:style>
          <a:lnRef idx="0">
            <a:scrgbClr r="0" g="0" b="0"/>
          </a:lnRef>
          <a:fillRef idx="0">
            <a:scrgbClr r="0" g="0" b="0"/>
          </a:fillRef>
          <a:effectRef idx="0">
            <a:scrgbClr r="0" g="0" b="0"/>
          </a:effectRef>
          <a:fontRef idx="minor">
            <a:schemeClr val="accent2"/>
          </a:fontRef>
        </p:style>
        <p:txBody>
          <a:bodyPr rtlCol="0" anchor="ctr"/>
          <a:lstStyle/>
          <a:p>
            <a:pPr algn="ctr"/>
            <a:endParaRPr lang="en-AT"/>
          </a:p>
        </p:txBody>
      </p:sp>
      <p:sp>
        <p:nvSpPr>
          <p:cNvPr id="10" name="TextBox 9">
            <a:extLst>
              <a:ext uri="{FF2B5EF4-FFF2-40B4-BE49-F238E27FC236}">
                <a16:creationId xmlns:a16="http://schemas.microsoft.com/office/drawing/2014/main" id="{9304CA8B-3C4B-A438-2A84-9524237274C2}"/>
              </a:ext>
            </a:extLst>
          </p:cNvPr>
          <p:cNvSpPr txBox="1"/>
          <p:nvPr/>
        </p:nvSpPr>
        <p:spPr>
          <a:xfrm>
            <a:off x="514350" y="2887682"/>
            <a:ext cx="11068050" cy="2092881"/>
          </a:xfrm>
          <a:prstGeom prst="rect">
            <a:avLst/>
          </a:prstGeom>
          <a:noFill/>
        </p:spPr>
        <p:txBody>
          <a:bodyPr wrap="square">
            <a:spAutoFit/>
          </a:bodyPr>
          <a:lstStyle/>
          <a:p>
            <a:pPr algn="just">
              <a:buNone/>
            </a:pPr>
            <a:r>
              <a:rPr lang="en-GB" sz="1400" i="1" dirty="0"/>
              <a:t>This slide provides a high-level overview of Lufthansa’s operational performance.</a:t>
            </a:r>
            <a:br>
              <a:rPr lang="en-GB" sz="1400" i="1" dirty="0"/>
            </a:br>
            <a:r>
              <a:rPr lang="en-GB" sz="1400" i="1" dirty="0"/>
              <a:t>Out of 1,680 flights, around 70% operated on time, while roughly 22% experienced delays and cancellations stayed below 8%, reflecting a stable operation with room for punctuality improvement.</a:t>
            </a:r>
          </a:p>
          <a:p>
            <a:pPr algn="just">
              <a:buNone/>
            </a:pPr>
            <a:r>
              <a:rPr lang="en-GB" sz="1400" i="1" dirty="0"/>
              <a:t>What is particularly interesting is the difference between internal delays and passenger impact. Lufthansa records more than 170,000 minutes of internal process delays, but only about 35,000 minutes are felt by passengers.</a:t>
            </a:r>
          </a:p>
          <a:p>
            <a:pPr algn="just">
              <a:buNone/>
            </a:pPr>
            <a:r>
              <a:rPr lang="en-GB" sz="1400" i="1" dirty="0"/>
              <a:t>This gap highlights Lufthansa’s ability to absorb operational inefficiencies through buffer times, schedule flexibility, and recovery mechanisms—protecting customer experience despite internal complexity.</a:t>
            </a:r>
            <a:br>
              <a:rPr lang="en-AT" sz="1400" i="1" dirty="0"/>
            </a:br>
            <a:br>
              <a:rPr lang="en-AT" sz="1400" i="1" dirty="0"/>
            </a:br>
            <a:r>
              <a:rPr lang="en-GB" sz="1400" dirty="0"/>
              <a:t>Operational resilience allows Lufthansa to shield passengers from most internal delays.</a:t>
            </a:r>
            <a:endParaRPr lang="en-GB" sz="1400" i="1" dirty="0"/>
          </a:p>
        </p:txBody>
      </p:sp>
    </p:spTree>
    <p:extLst>
      <p:ext uri="{BB962C8B-B14F-4D97-AF65-F5344CB8AC3E}">
        <p14:creationId xmlns:p14="http://schemas.microsoft.com/office/powerpoint/2010/main" val="1582347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29BD681-415C-CB82-EC5F-ACCD0DFB6320}"/>
              </a:ext>
            </a:extLst>
          </p:cNvPr>
          <p:cNvPicPr>
            <a:picLocks noChangeAspect="1"/>
          </p:cNvPicPr>
          <p:nvPr/>
        </p:nvPicPr>
        <p:blipFill>
          <a:blip r:embed="rId2"/>
          <a:stretch>
            <a:fillRect/>
          </a:stretch>
        </p:blipFill>
        <p:spPr>
          <a:xfrm>
            <a:off x="276225" y="232220"/>
            <a:ext cx="8478433" cy="990738"/>
          </a:xfrm>
          <a:prstGeom prst="rect">
            <a:avLst/>
          </a:prstGeom>
          <a:ln>
            <a:noFill/>
          </a:ln>
          <a:effectLst>
            <a:softEdge rad="112500"/>
          </a:effectLst>
        </p:spPr>
      </p:pic>
      <p:sp>
        <p:nvSpPr>
          <p:cNvPr id="6" name="TextBox 5">
            <a:extLst>
              <a:ext uri="{FF2B5EF4-FFF2-40B4-BE49-F238E27FC236}">
                <a16:creationId xmlns:a16="http://schemas.microsoft.com/office/drawing/2014/main" id="{5C89617F-7E74-6ADC-8AD1-44ABF102079D}"/>
              </a:ext>
            </a:extLst>
          </p:cNvPr>
          <p:cNvSpPr txBox="1"/>
          <p:nvPr/>
        </p:nvSpPr>
        <p:spPr>
          <a:xfrm>
            <a:off x="209550" y="1313627"/>
            <a:ext cx="11306175" cy="2246769"/>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GB" sz="1400" b="1" dirty="0"/>
              <a:t>Delay Severity: Passenger vs Internal Impact</a:t>
            </a:r>
          </a:p>
          <a:p>
            <a:r>
              <a:rPr lang="en-GB" sz="1400" b="1" dirty="0"/>
              <a:t>Total True Delay Minutes (Passenger Impact):</a:t>
            </a:r>
            <a:r>
              <a:rPr lang="en-GB" sz="1400" dirty="0"/>
              <a:t> 35,152</a:t>
            </a:r>
          </a:p>
          <a:p>
            <a:r>
              <a:rPr lang="en-GB" sz="1400" b="1" dirty="0"/>
              <a:t>Total Process Delay Minutes (Internal Operations):</a:t>
            </a:r>
            <a:r>
              <a:rPr lang="en-GB" sz="1400" dirty="0"/>
              <a:t> 170,749</a:t>
            </a:r>
          </a:p>
          <a:p>
            <a:r>
              <a:rPr lang="en-GB" sz="1400" i="1" dirty="0"/>
              <a:t>“A key insight is the significant gap between internal process delays and passenger-experienced delays.</a:t>
            </a:r>
            <a:br>
              <a:rPr lang="en-GB" sz="1400" i="1" dirty="0"/>
            </a:br>
            <a:r>
              <a:rPr lang="en-GB" sz="1400" i="1" dirty="0"/>
              <a:t>While Lufthansa accumulates over 170,000 minutes of internal operational delays, only about 35,000 minutes are ultimately passed on to passengers.”</a:t>
            </a:r>
            <a:endParaRPr lang="en-GB" sz="1400" dirty="0"/>
          </a:p>
          <a:p>
            <a:r>
              <a:rPr lang="en-GB" sz="1400" b="1" dirty="0"/>
              <a:t>This indicates strong delay-absorption capability through:</a:t>
            </a:r>
            <a:endParaRPr lang="en-GB" sz="1400" dirty="0"/>
          </a:p>
          <a:p>
            <a:r>
              <a:rPr lang="en-GB" sz="1400" dirty="0"/>
              <a:t>Buffer time management</a:t>
            </a:r>
          </a:p>
          <a:p>
            <a:r>
              <a:rPr lang="en-GB" sz="1400" dirty="0"/>
              <a:t>Schedule flexibility</a:t>
            </a:r>
          </a:p>
          <a:p>
            <a:r>
              <a:rPr lang="en-GB" sz="1400" dirty="0"/>
              <a:t>Operational recovery mechanisms</a:t>
            </a:r>
          </a:p>
        </p:txBody>
      </p:sp>
      <p:sp>
        <p:nvSpPr>
          <p:cNvPr id="3" name="TextBox 2">
            <a:extLst>
              <a:ext uri="{FF2B5EF4-FFF2-40B4-BE49-F238E27FC236}">
                <a16:creationId xmlns:a16="http://schemas.microsoft.com/office/drawing/2014/main" id="{2B41FD5F-3A01-2A1F-E29E-BC11489BD8E6}"/>
              </a:ext>
            </a:extLst>
          </p:cNvPr>
          <p:cNvSpPr txBox="1"/>
          <p:nvPr/>
        </p:nvSpPr>
        <p:spPr>
          <a:xfrm>
            <a:off x="442912" y="3863191"/>
            <a:ext cx="11306175" cy="1384995"/>
          </a:xfrm>
          <a:prstGeom prst="rect">
            <a:avLst/>
          </a:prstGeom>
          <a:noFill/>
        </p:spPr>
        <p:txBody>
          <a:bodyPr wrap="square">
            <a:spAutoFit/>
          </a:bodyPr>
          <a:lstStyle/>
          <a:p>
            <a:pPr>
              <a:buNone/>
            </a:pPr>
            <a:r>
              <a:rPr lang="en-GB" sz="1200" i="1" dirty="0"/>
              <a:t>This slide provides a high-level overview of Lufthansa’s operational performance.</a:t>
            </a:r>
            <a:br>
              <a:rPr lang="en-GB" sz="1200" i="1" dirty="0"/>
            </a:br>
            <a:r>
              <a:rPr lang="en-GB" sz="1200" i="1" dirty="0"/>
              <a:t>Out of 1,680 flights, around 70% operated on time, while roughly 22% experienced delays and cancellations stayed below 8%, reflecting a stable operation with room for punctuality improvement.</a:t>
            </a:r>
          </a:p>
          <a:p>
            <a:pPr>
              <a:buNone/>
            </a:pPr>
            <a:r>
              <a:rPr lang="en-GB" sz="1200" i="1" dirty="0"/>
              <a:t>What is particularly interesting is the difference between internal delays and passenger impact. Lufthansa records more than 170,000 minutes of internal process delays, but only about 35,000 minutes are felt by passengers.</a:t>
            </a:r>
          </a:p>
          <a:p>
            <a:pPr>
              <a:buNone/>
            </a:pPr>
            <a:r>
              <a:rPr lang="en-GB" sz="1200" i="1" dirty="0"/>
              <a:t>This gap highlights Lufthansa’s ability to absorb operational inefficiencies through buffer times, schedule flexibility, and recovery mechanisms—protecting customer experience despite internal complexity.</a:t>
            </a:r>
          </a:p>
        </p:txBody>
      </p:sp>
    </p:spTree>
    <p:extLst>
      <p:ext uri="{BB962C8B-B14F-4D97-AF65-F5344CB8AC3E}">
        <p14:creationId xmlns:p14="http://schemas.microsoft.com/office/powerpoint/2010/main" val="229075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38F655-3D93-8B2C-D78C-5721EDD316CE}"/>
              </a:ext>
            </a:extLst>
          </p:cNvPr>
          <p:cNvPicPr>
            <a:picLocks noChangeAspect="1"/>
          </p:cNvPicPr>
          <p:nvPr/>
        </p:nvPicPr>
        <p:blipFill>
          <a:blip r:embed="rId2"/>
          <a:stretch>
            <a:fillRect/>
          </a:stretch>
        </p:blipFill>
        <p:spPr>
          <a:xfrm>
            <a:off x="7100551" y="1600199"/>
            <a:ext cx="5015635" cy="3300667"/>
          </a:xfrm>
          <a:prstGeom prst="rect">
            <a:avLst/>
          </a:prstGeom>
        </p:spPr>
      </p:pic>
      <p:sp>
        <p:nvSpPr>
          <p:cNvPr id="4" name="TextBox 3">
            <a:extLst>
              <a:ext uri="{FF2B5EF4-FFF2-40B4-BE49-F238E27FC236}">
                <a16:creationId xmlns:a16="http://schemas.microsoft.com/office/drawing/2014/main" id="{6C4C8060-2611-31E0-CC01-A5327B1CE496}"/>
              </a:ext>
            </a:extLst>
          </p:cNvPr>
          <p:cNvSpPr txBox="1"/>
          <p:nvPr/>
        </p:nvSpPr>
        <p:spPr>
          <a:xfrm>
            <a:off x="9570425" y="95250"/>
            <a:ext cx="2545762" cy="92333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AT" dirty="0"/>
              <a:t>Total Flight : 1680</a:t>
            </a:r>
          </a:p>
          <a:p>
            <a:r>
              <a:rPr lang="en-AT" dirty="0"/>
              <a:t>Total Cancel Flight : 128</a:t>
            </a:r>
            <a:br>
              <a:rPr lang="en-AT" dirty="0"/>
            </a:br>
            <a:r>
              <a:rPr lang="en-AT" dirty="0"/>
              <a:t>Cancel ratio: 7.62%</a:t>
            </a:r>
          </a:p>
        </p:txBody>
      </p:sp>
      <p:sp>
        <p:nvSpPr>
          <p:cNvPr id="8" name="TextBox 7">
            <a:extLst>
              <a:ext uri="{FF2B5EF4-FFF2-40B4-BE49-F238E27FC236}">
                <a16:creationId xmlns:a16="http://schemas.microsoft.com/office/drawing/2014/main" id="{E8FEA31C-2763-8401-E315-B00366A3EF5B}"/>
              </a:ext>
            </a:extLst>
          </p:cNvPr>
          <p:cNvSpPr txBox="1"/>
          <p:nvPr/>
        </p:nvSpPr>
        <p:spPr>
          <a:xfrm>
            <a:off x="75813" y="95250"/>
            <a:ext cx="7024738" cy="1384995"/>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buNone/>
            </a:pPr>
            <a:r>
              <a:rPr lang="en-GB" sz="1200" i="1" dirty="0"/>
              <a:t>Interpretation of the Statistics</a:t>
            </a:r>
          </a:p>
          <a:p>
            <a:pPr>
              <a:buFont typeface="Arial" panose="020B0604020202020204" pitchFamily="34" charset="0"/>
              <a:buChar char="•"/>
            </a:pPr>
            <a:r>
              <a:rPr lang="en-GB" sz="1200" i="1" dirty="0"/>
              <a:t>A 7.62% cancellation rate indicates that cancellations are not negligible, but they are significantly lower than delay occurrences (22.26%).</a:t>
            </a:r>
          </a:p>
          <a:p>
            <a:pPr>
              <a:buFont typeface="Arial" panose="020B0604020202020204" pitchFamily="34" charset="0"/>
              <a:buChar char="•"/>
            </a:pPr>
            <a:r>
              <a:rPr lang="en-GB" sz="1200" i="1" dirty="0"/>
              <a:t>The majority of operational disruptions are therefore handled as delays rather than cancellations, suggesting:</a:t>
            </a:r>
          </a:p>
          <a:p>
            <a:pPr marL="742950" lvl="1" indent="-285750">
              <a:buFont typeface="Arial" panose="020B0604020202020204" pitchFamily="34" charset="0"/>
              <a:buChar char="•"/>
            </a:pPr>
            <a:r>
              <a:rPr lang="en-GB" sz="1200" i="1" dirty="0"/>
              <a:t>Effective recovery and re-scheduling strategies</a:t>
            </a:r>
          </a:p>
          <a:p>
            <a:pPr marL="742950" lvl="1" indent="-285750">
              <a:buFont typeface="Arial" panose="020B0604020202020204" pitchFamily="34" charset="0"/>
              <a:buChar char="•"/>
            </a:pPr>
            <a:r>
              <a:rPr lang="en-GB" sz="1200" i="1" dirty="0"/>
              <a:t>A preference for absorbing disruption operationally instead of cancelling flights outright</a:t>
            </a:r>
          </a:p>
        </p:txBody>
      </p:sp>
      <p:sp>
        <p:nvSpPr>
          <p:cNvPr id="10" name="TextBox 9">
            <a:extLst>
              <a:ext uri="{FF2B5EF4-FFF2-40B4-BE49-F238E27FC236}">
                <a16:creationId xmlns:a16="http://schemas.microsoft.com/office/drawing/2014/main" id="{23D625F4-2E14-F0E1-76D5-4C4B42F72458}"/>
              </a:ext>
            </a:extLst>
          </p:cNvPr>
          <p:cNvSpPr txBox="1"/>
          <p:nvPr/>
        </p:nvSpPr>
        <p:spPr>
          <a:xfrm>
            <a:off x="75812" y="1553486"/>
            <a:ext cx="7024737" cy="830997"/>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a:buNone/>
            </a:pPr>
            <a:r>
              <a:rPr lang="en-GB" sz="1200" b="1" dirty="0"/>
              <a:t>Comparative Context</a:t>
            </a:r>
          </a:p>
          <a:p>
            <a:pPr>
              <a:buFont typeface="Arial" panose="020B0604020202020204" pitchFamily="34" charset="0"/>
              <a:buChar char="•"/>
            </a:pPr>
            <a:r>
              <a:rPr lang="en-GB" sz="1200" dirty="0"/>
              <a:t>While </a:t>
            </a:r>
            <a:r>
              <a:rPr lang="en-GB" sz="1200" b="1" dirty="0"/>
              <a:t>22.26% of flights experience delays</a:t>
            </a:r>
            <a:r>
              <a:rPr lang="en-GB" sz="1200" dirty="0"/>
              <a:t>, only </a:t>
            </a:r>
            <a:r>
              <a:rPr lang="en-GB" sz="1200" b="1" dirty="0"/>
              <a:t>7.62% are cancelled</a:t>
            </a:r>
            <a:r>
              <a:rPr lang="en-GB" sz="1200" dirty="0"/>
              <a:t>, meaning:</a:t>
            </a:r>
          </a:p>
          <a:p>
            <a:pPr marL="742950" lvl="1" indent="-285750">
              <a:buFont typeface="Arial" panose="020B0604020202020204" pitchFamily="34" charset="0"/>
              <a:buChar char="•"/>
            </a:pPr>
            <a:r>
              <a:rPr lang="en-GB" sz="1200" dirty="0"/>
              <a:t>Many disrupted flights are </a:t>
            </a:r>
            <a:r>
              <a:rPr lang="en-GB" sz="1200" b="1" dirty="0"/>
              <a:t>successfully recovered</a:t>
            </a:r>
            <a:endParaRPr lang="en-GB" sz="1200" dirty="0"/>
          </a:p>
          <a:p>
            <a:pPr marL="742950" lvl="1" indent="-285750">
              <a:buFont typeface="Arial" panose="020B0604020202020204" pitchFamily="34" charset="0"/>
              <a:buChar char="•"/>
            </a:pPr>
            <a:r>
              <a:rPr lang="en-GB" sz="1200" dirty="0"/>
              <a:t>Operational buffers and contingency planning prevent escalation from delay to cancellation</a:t>
            </a:r>
          </a:p>
        </p:txBody>
      </p:sp>
      <p:sp>
        <p:nvSpPr>
          <p:cNvPr id="12" name="TextBox 11">
            <a:extLst>
              <a:ext uri="{FF2B5EF4-FFF2-40B4-BE49-F238E27FC236}">
                <a16:creationId xmlns:a16="http://schemas.microsoft.com/office/drawing/2014/main" id="{67C8A3F0-9A4D-FDD2-1ECA-94FE346DDDFA}"/>
              </a:ext>
            </a:extLst>
          </p:cNvPr>
          <p:cNvSpPr txBox="1"/>
          <p:nvPr/>
        </p:nvSpPr>
        <p:spPr>
          <a:xfrm>
            <a:off x="75812" y="2457724"/>
            <a:ext cx="7024736" cy="1569660"/>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pPr>
              <a:buNone/>
            </a:pPr>
            <a:r>
              <a:rPr lang="en-GB" sz="1200" dirty="0"/>
              <a:t>Business Impact</a:t>
            </a:r>
          </a:p>
          <a:p>
            <a:pPr>
              <a:buFont typeface="Arial" panose="020B0604020202020204" pitchFamily="34" charset="0"/>
              <a:buChar char="•"/>
            </a:pPr>
            <a:r>
              <a:rPr lang="en-GB" sz="1200" dirty="0"/>
              <a:t>Positive:</a:t>
            </a:r>
          </a:p>
          <a:p>
            <a:pPr marL="742950" lvl="1" indent="-285750">
              <a:buFont typeface="Arial" panose="020B0604020202020204" pitchFamily="34" charset="0"/>
              <a:buChar char="•"/>
            </a:pPr>
            <a:r>
              <a:rPr lang="en-GB" sz="1200" dirty="0"/>
              <a:t>Lower cancellation rates protect customer trust and brand reputation</a:t>
            </a:r>
          </a:p>
          <a:p>
            <a:pPr marL="742950" lvl="1" indent="-285750">
              <a:buFont typeface="Arial" panose="020B0604020202020204" pitchFamily="34" charset="0"/>
              <a:buChar char="•"/>
            </a:pPr>
            <a:r>
              <a:rPr lang="en-GB" sz="1200" dirty="0"/>
              <a:t>Reduced compensation and re-accommodation costs compared to cancellations</a:t>
            </a:r>
          </a:p>
          <a:p>
            <a:pPr>
              <a:buFont typeface="Arial" panose="020B0604020202020204" pitchFamily="34" charset="0"/>
              <a:buChar char="•"/>
            </a:pPr>
            <a:r>
              <a:rPr lang="en-GB" sz="1200" dirty="0"/>
              <a:t>Risk Area:</a:t>
            </a:r>
          </a:p>
          <a:p>
            <a:pPr marL="742950" lvl="1" indent="-285750">
              <a:buFont typeface="Arial" panose="020B0604020202020204" pitchFamily="34" charset="0"/>
              <a:buChar char="•"/>
            </a:pPr>
            <a:r>
              <a:rPr lang="en-GB" sz="1200" dirty="0"/>
              <a:t>Each cancelled flight has a disproportionately high cost impact compared to delayed flights</a:t>
            </a:r>
          </a:p>
          <a:p>
            <a:pPr marL="742950" lvl="1" indent="-285750">
              <a:buFont typeface="Arial" panose="020B0604020202020204" pitchFamily="34" charset="0"/>
              <a:buChar char="•"/>
            </a:pPr>
            <a:r>
              <a:rPr lang="en-GB" sz="1200" dirty="0"/>
              <a:t>Even small reductions in cancellations can yield large financial and customer-satisfaction gains</a:t>
            </a:r>
          </a:p>
        </p:txBody>
      </p:sp>
      <p:sp>
        <p:nvSpPr>
          <p:cNvPr id="14" name="TextBox 13">
            <a:extLst>
              <a:ext uri="{FF2B5EF4-FFF2-40B4-BE49-F238E27FC236}">
                <a16:creationId xmlns:a16="http://schemas.microsoft.com/office/drawing/2014/main" id="{ACC0C3D9-F98D-4029-5EA5-C536F2498835}"/>
              </a:ext>
            </a:extLst>
          </p:cNvPr>
          <p:cNvSpPr txBox="1"/>
          <p:nvPr/>
        </p:nvSpPr>
        <p:spPr>
          <a:xfrm>
            <a:off x="75810" y="5816767"/>
            <a:ext cx="11868539" cy="830997"/>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buNone/>
            </a:pPr>
            <a:r>
              <a:rPr lang="en-GB" sz="1600" i="1" dirty="0"/>
              <a:t>“Although Lufthansa operates in a disruption-prone environment, only 7.62% of flights are cancelled. This shows strong operational control, with most disruptions being managed through delays rather than cancellations. Further reducing cancellations—even marginally—would deliver significant cost savings and customer experience benefits.”</a:t>
            </a:r>
          </a:p>
        </p:txBody>
      </p:sp>
      <p:sp>
        <p:nvSpPr>
          <p:cNvPr id="16" name="TextBox 15">
            <a:extLst>
              <a:ext uri="{FF2B5EF4-FFF2-40B4-BE49-F238E27FC236}">
                <a16:creationId xmlns:a16="http://schemas.microsoft.com/office/drawing/2014/main" id="{D5EEF816-84D7-80AF-8AD7-1FD45BB7E733}"/>
              </a:ext>
            </a:extLst>
          </p:cNvPr>
          <p:cNvSpPr txBox="1"/>
          <p:nvPr/>
        </p:nvSpPr>
        <p:spPr>
          <a:xfrm>
            <a:off x="75811" y="4100625"/>
            <a:ext cx="7024735" cy="1384995"/>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buNone/>
            </a:pPr>
            <a:r>
              <a:rPr lang="en-GB" sz="1200" b="1" dirty="0"/>
              <a:t>Risk Area</a:t>
            </a:r>
          </a:p>
          <a:p>
            <a:pPr>
              <a:buFont typeface="Arial" panose="020B0604020202020204" pitchFamily="34" charset="0"/>
              <a:buChar char="•"/>
            </a:pPr>
            <a:r>
              <a:rPr lang="en-GB" sz="1200" dirty="0"/>
              <a:t>Each cancelled flight carries a </a:t>
            </a:r>
            <a:r>
              <a:rPr lang="en-GB" sz="1200" b="1" dirty="0"/>
              <a:t>disproportionately high cost impact</a:t>
            </a:r>
            <a:r>
              <a:rPr lang="en-GB" sz="1200" dirty="0"/>
              <a:t> compared to delayed flights:</a:t>
            </a:r>
          </a:p>
          <a:p>
            <a:pPr marL="742950" lvl="1" indent="-285750">
              <a:buFont typeface="Arial" panose="020B0604020202020204" pitchFamily="34" charset="0"/>
              <a:buChar char="•"/>
            </a:pPr>
            <a:r>
              <a:rPr lang="en-GB" sz="1200" dirty="0"/>
              <a:t>Passenger dissatisfaction</a:t>
            </a:r>
          </a:p>
          <a:p>
            <a:pPr marL="742950" lvl="1" indent="-285750">
              <a:buFont typeface="Arial" panose="020B0604020202020204" pitchFamily="34" charset="0"/>
              <a:buChar char="•"/>
            </a:pPr>
            <a:r>
              <a:rPr lang="en-GB" sz="1200" dirty="0"/>
              <a:t>Missed connections</a:t>
            </a:r>
          </a:p>
          <a:p>
            <a:pPr marL="742950" lvl="1" indent="-285750">
              <a:buFont typeface="Arial" panose="020B0604020202020204" pitchFamily="34" charset="0"/>
              <a:buChar char="•"/>
            </a:pPr>
            <a:r>
              <a:rPr lang="en-GB" sz="1200" dirty="0"/>
              <a:t>Regulatory and compensation exposure</a:t>
            </a:r>
          </a:p>
          <a:p>
            <a:pPr>
              <a:buFont typeface="Arial" panose="020B0604020202020204" pitchFamily="34" charset="0"/>
              <a:buChar char="•"/>
            </a:pPr>
            <a:r>
              <a:rPr lang="en-GB" sz="1200" dirty="0"/>
              <a:t>Even </a:t>
            </a:r>
            <a:r>
              <a:rPr lang="en-GB" sz="1200" b="1" dirty="0"/>
              <a:t>small reductions in cancellations</a:t>
            </a:r>
            <a:r>
              <a:rPr lang="en-GB" sz="1200" dirty="0"/>
              <a:t> can generate </a:t>
            </a:r>
            <a:r>
              <a:rPr lang="en-GB" sz="1200" b="1" dirty="0"/>
              <a:t>outsized financial and customer-experience gains</a:t>
            </a:r>
            <a:endParaRPr lang="en-GB" sz="1200" dirty="0"/>
          </a:p>
        </p:txBody>
      </p:sp>
    </p:spTree>
    <p:extLst>
      <p:ext uri="{BB962C8B-B14F-4D97-AF65-F5344CB8AC3E}">
        <p14:creationId xmlns:p14="http://schemas.microsoft.com/office/powerpoint/2010/main" val="1560918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98D0A7F-E109-5DB2-8529-61484C49F138}"/>
              </a:ext>
            </a:extLst>
          </p:cNvPr>
          <p:cNvPicPr>
            <a:picLocks noChangeAspect="1"/>
          </p:cNvPicPr>
          <p:nvPr/>
        </p:nvPicPr>
        <p:blipFill>
          <a:blip r:embed="rId2"/>
          <a:stretch>
            <a:fillRect/>
          </a:stretch>
        </p:blipFill>
        <p:spPr>
          <a:xfrm>
            <a:off x="38100" y="0"/>
            <a:ext cx="4686954" cy="3143689"/>
          </a:xfrm>
          <a:prstGeom prst="rect">
            <a:avLst/>
          </a:prstGeom>
        </p:spPr>
      </p:pic>
      <p:sp>
        <p:nvSpPr>
          <p:cNvPr id="13" name="TextBox 12">
            <a:extLst>
              <a:ext uri="{FF2B5EF4-FFF2-40B4-BE49-F238E27FC236}">
                <a16:creationId xmlns:a16="http://schemas.microsoft.com/office/drawing/2014/main" id="{FED916BE-E5DD-1A00-B0DE-A9C51BC9F1F3}"/>
              </a:ext>
            </a:extLst>
          </p:cNvPr>
          <p:cNvSpPr txBox="1"/>
          <p:nvPr/>
        </p:nvSpPr>
        <p:spPr>
          <a:xfrm>
            <a:off x="4763154" y="218829"/>
            <a:ext cx="7066896" cy="280076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GB" sz="1600" b="1" dirty="0"/>
              <a:t>Flights Impacted by Attribute</a:t>
            </a:r>
            <a:r>
              <a:rPr lang="en-AT" sz="1600" b="1" dirty="0"/>
              <a:t>:</a:t>
            </a:r>
          </a:p>
          <a:p>
            <a:endParaRPr lang="en-GB" sz="1600" b="1" dirty="0"/>
          </a:p>
          <a:p>
            <a:pPr marL="285750" indent="-285750">
              <a:buFont typeface="Wingdings" panose="05000000000000000000" pitchFamily="2" charset="2"/>
              <a:buChar char="Ø"/>
            </a:pPr>
            <a:r>
              <a:rPr lang="en-GB" sz="1400" dirty="0"/>
              <a:t>This chart highlights the operational and scheduling attributes that have impacted the highest number of Lufthansa flights.</a:t>
            </a:r>
            <a:endParaRPr lang="en-AT" sz="1400" dirty="0"/>
          </a:p>
          <a:p>
            <a:pPr marL="285750" indent="-285750">
              <a:buFont typeface="Wingdings" panose="05000000000000000000" pitchFamily="2" charset="2"/>
              <a:buChar char="Ø"/>
            </a:pPr>
            <a:endParaRPr lang="en-GB" sz="1400" dirty="0"/>
          </a:p>
          <a:p>
            <a:pPr marL="285750" indent="-285750">
              <a:buFont typeface="Wingdings" panose="05000000000000000000" pitchFamily="2" charset="2"/>
              <a:buChar char="Ø"/>
            </a:pPr>
            <a:r>
              <a:rPr lang="en-GB" sz="1400" dirty="0"/>
              <a:t>The strongest impact is driven by day-level patterns and overall process-related delays, while individual operational activities such as crew arrival, catering, deboarding, and cleaning contribute comparatively less.</a:t>
            </a:r>
            <a:endParaRPr lang="en-AT" sz="1400" dirty="0"/>
          </a:p>
          <a:p>
            <a:pPr marL="285750" indent="-285750">
              <a:buFont typeface="Wingdings" panose="05000000000000000000" pitchFamily="2" charset="2"/>
              <a:buChar char="Ø"/>
            </a:pPr>
            <a:endParaRPr lang="en-GB" sz="1400" dirty="0"/>
          </a:p>
          <a:p>
            <a:pPr marL="285750" indent="-285750">
              <a:buFont typeface="Wingdings" panose="05000000000000000000" pitchFamily="2" charset="2"/>
              <a:buChar char="Ø"/>
            </a:pPr>
            <a:r>
              <a:rPr lang="en-GB" sz="1400" dirty="0"/>
              <a:t>This clearly indicates that flight delays are systemic and pattern-based, rather than the result of isolated operational incidents.</a:t>
            </a:r>
          </a:p>
          <a:p>
            <a:endParaRPr lang="en-AT" dirty="0"/>
          </a:p>
        </p:txBody>
      </p:sp>
      <p:pic>
        <p:nvPicPr>
          <p:cNvPr id="25" name="Picture 24">
            <a:extLst>
              <a:ext uri="{FF2B5EF4-FFF2-40B4-BE49-F238E27FC236}">
                <a16:creationId xmlns:a16="http://schemas.microsoft.com/office/drawing/2014/main" id="{4AA21A78-1463-F5CD-9D21-C3F10020C5D1}"/>
              </a:ext>
            </a:extLst>
          </p:cNvPr>
          <p:cNvPicPr>
            <a:picLocks noChangeAspect="1"/>
          </p:cNvPicPr>
          <p:nvPr/>
        </p:nvPicPr>
        <p:blipFill>
          <a:blip r:embed="rId3"/>
          <a:stretch>
            <a:fillRect/>
          </a:stretch>
        </p:blipFill>
        <p:spPr>
          <a:xfrm>
            <a:off x="142875" y="3438565"/>
            <a:ext cx="4553585" cy="2133560"/>
          </a:xfrm>
          <a:prstGeom prst="rect">
            <a:avLst/>
          </a:prstGeom>
        </p:spPr>
        <p:style>
          <a:lnRef idx="2">
            <a:schemeClr val="dk1"/>
          </a:lnRef>
          <a:fillRef idx="1">
            <a:schemeClr val="lt1"/>
          </a:fillRef>
          <a:effectRef idx="0">
            <a:schemeClr val="dk1"/>
          </a:effectRef>
          <a:fontRef idx="minor">
            <a:schemeClr val="dk1"/>
          </a:fontRef>
        </p:style>
      </p:pic>
      <p:sp>
        <p:nvSpPr>
          <p:cNvPr id="26" name="Rectangle 25">
            <a:extLst>
              <a:ext uri="{FF2B5EF4-FFF2-40B4-BE49-F238E27FC236}">
                <a16:creationId xmlns:a16="http://schemas.microsoft.com/office/drawing/2014/main" id="{484FD01F-8C7B-0DC3-D633-79322D477932}"/>
              </a:ext>
            </a:extLst>
          </p:cNvPr>
          <p:cNvSpPr/>
          <p:nvPr/>
        </p:nvSpPr>
        <p:spPr>
          <a:xfrm>
            <a:off x="66675" y="3171825"/>
            <a:ext cx="4686954" cy="323011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AT"/>
          </a:p>
        </p:txBody>
      </p:sp>
      <p:sp>
        <p:nvSpPr>
          <p:cNvPr id="29" name="TextBox 28">
            <a:extLst>
              <a:ext uri="{FF2B5EF4-FFF2-40B4-BE49-F238E27FC236}">
                <a16:creationId xmlns:a16="http://schemas.microsoft.com/office/drawing/2014/main" id="{8D03459D-C271-6BA1-C746-E59BCFB565A8}"/>
              </a:ext>
            </a:extLst>
          </p:cNvPr>
          <p:cNvSpPr txBox="1"/>
          <p:nvPr/>
        </p:nvSpPr>
        <p:spPr>
          <a:xfrm>
            <a:off x="4725054" y="3455846"/>
            <a:ext cx="7209681" cy="209288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GB" sz="1400" b="1" dirty="0"/>
              <a:t>Total True Delay Minutes vs Total Process Delay Minutes</a:t>
            </a:r>
          </a:p>
          <a:p>
            <a:pPr marL="285750" indent="-285750">
              <a:buFont typeface="Wingdings" panose="05000000000000000000" pitchFamily="2" charset="2"/>
              <a:buChar char="Ø"/>
            </a:pPr>
            <a:r>
              <a:rPr lang="en-GB" sz="1400" dirty="0"/>
              <a:t>This chart compares the actual delay experienced by passengers with the total internal process-related delay minutes.</a:t>
            </a:r>
            <a:endParaRPr lang="en-AT" sz="1400" dirty="0"/>
          </a:p>
          <a:p>
            <a:endParaRPr lang="en-GB" sz="1400" dirty="0"/>
          </a:p>
          <a:p>
            <a:pPr marL="285750" indent="-285750">
              <a:buFont typeface="Wingdings" panose="05000000000000000000" pitchFamily="2" charset="2"/>
              <a:buChar char="Ø"/>
            </a:pPr>
            <a:r>
              <a:rPr lang="en-GB" sz="1400" dirty="0"/>
              <a:t>Although total process delays are significantly higher, only a portion of that delay translates into true passenger delay.</a:t>
            </a:r>
            <a:br>
              <a:rPr lang="en-GB" sz="1400" dirty="0"/>
            </a:br>
            <a:r>
              <a:rPr lang="en-GB" sz="1400" dirty="0"/>
              <a:t>This demonstrates Lufthansa’s ability to absorb operational inefficiencies through buffer time, scheduling flexibility, and recovery mechanisms.</a:t>
            </a:r>
          </a:p>
          <a:p>
            <a:endParaRPr lang="en-AT" dirty="0"/>
          </a:p>
        </p:txBody>
      </p:sp>
      <p:sp>
        <p:nvSpPr>
          <p:cNvPr id="31" name="TextBox 30">
            <a:extLst>
              <a:ext uri="{FF2B5EF4-FFF2-40B4-BE49-F238E27FC236}">
                <a16:creationId xmlns:a16="http://schemas.microsoft.com/office/drawing/2014/main" id="{73E43865-91AE-84B8-619B-5ECC3170763A}"/>
              </a:ext>
            </a:extLst>
          </p:cNvPr>
          <p:cNvSpPr txBox="1"/>
          <p:nvPr/>
        </p:nvSpPr>
        <p:spPr>
          <a:xfrm>
            <a:off x="224843" y="5755558"/>
            <a:ext cx="11348031" cy="1200329"/>
          </a:xfrm>
          <a:prstGeom prst="rect">
            <a:avLst/>
          </a:prstGeom>
          <a:noFill/>
        </p:spPr>
        <p:txBody>
          <a:bodyPr wrap="square">
            <a:spAutoFit/>
          </a:bodyPr>
          <a:lstStyle/>
          <a:p>
            <a:r>
              <a:rPr lang="en-GB" sz="1200" b="1" dirty="0"/>
              <a:t>Business Impact</a:t>
            </a:r>
          </a:p>
          <a:p>
            <a:pPr marL="171450" indent="-171450">
              <a:buFont typeface="Wingdings" panose="05000000000000000000" pitchFamily="2" charset="2"/>
              <a:buChar char="Ø"/>
            </a:pPr>
            <a:r>
              <a:rPr lang="en-GB" sz="1200" dirty="0"/>
              <a:t>Operational efficiency opportunity: High process-related delays point to inefficiencies in ground operations and aircraft turnaround activities.</a:t>
            </a:r>
          </a:p>
          <a:p>
            <a:pPr marL="171450" indent="-171450">
              <a:buFont typeface="Wingdings" panose="05000000000000000000" pitchFamily="2" charset="2"/>
              <a:buChar char="Ø"/>
            </a:pPr>
            <a:r>
              <a:rPr lang="en-GB" sz="1200" dirty="0"/>
              <a:t>Cost reduction potential: Optimizing internal processes can reduce operational costs, even when passenger delays are already partially mitigated.</a:t>
            </a:r>
          </a:p>
          <a:p>
            <a:pPr marL="171450" indent="-171450">
              <a:buFont typeface="Wingdings" panose="05000000000000000000" pitchFamily="2" charset="2"/>
              <a:buChar char="Ø"/>
            </a:pPr>
            <a:r>
              <a:rPr lang="en-GB" sz="1200" dirty="0"/>
              <a:t>Service quality protection: Effective delay absorption helps preserve customer satisfaction and maintain on-time performance standards.</a:t>
            </a:r>
          </a:p>
          <a:p>
            <a:pPr marL="171450" indent="-171450">
              <a:buFont typeface="Wingdings" panose="05000000000000000000" pitchFamily="2" charset="2"/>
              <a:buChar char="Ø"/>
            </a:pPr>
            <a:r>
              <a:rPr lang="en-GB" sz="1200" dirty="0"/>
              <a:t>Strategic optimization focus: Process-level improvements deliver higher impact than addressing isolated delay causes.</a:t>
            </a:r>
          </a:p>
          <a:p>
            <a:pPr>
              <a:buNone/>
            </a:pPr>
            <a:endParaRPr lang="en-GB" sz="1200" b="1" dirty="0">
              <a:solidFill>
                <a:srgbClr val="FF0000"/>
              </a:solidFill>
            </a:endParaRPr>
          </a:p>
        </p:txBody>
      </p:sp>
    </p:spTree>
    <p:extLst>
      <p:ext uri="{BB962C8B-B14F-4D97-AF65-F5344CB8AC3E}">
        <p14:creationId xmlns:p14="http://schemas.microsoft.com/office/powerpoint/2010/main" val="1577022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D2F9AC-47A9-3BC2-8055-DB53BD2D43FE}"/>
              </a:ext>
            </a:extLst>
          </p:cNvPr>
          <p:cNvPicPr>
            <a:picLocks noChangeAspect="1"/>
          </p:cNvPicPr>
          <p:nvPr/>
        </p:nvPicPr>
        <p:blipFill>
          <a:blip r:embed="rId2"/>
          <a:stretch>
            <a:fillRect/>
          </a:stretch>
        </p:blipFill>
        <p:spPr>
          <a:xfrm>
            <a:off x="333163" y="90275"/>
            <a:ext cx="3029373" cy="3038899"/>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pic>
      <p:pic>
        <p:nvPicPr>
          <p:cNvPr id="5" name="Picture 4">
            <a:extLst>
              <a:ext uri="{FF2B5EF4-FFF2-40B4-BE49-F238E27FC236}">
                <a16:creationId xmlns:a16="http://schemas.microsoft.com/office/drawing/2014/main" id="{006AD5C5-B2C1-4D0D-A709-F43AC234EB6B}"/>
              </a:ext>
            </a:extLst>
          </p:cNvPr>
          <p:cNvPicPr>
            <a:picLocks noChangeAspect="1"/>
          </p:cNvPicPr>
          <p:nvPr/>
        </p:nvPicPr>
        <p:blipFill>
          <a:blip r:embed="rId3"/>
          <a:stretch>
            <a:fillRect/>
          </a:stretch>
        </p:blipFill>
        <p:spPr>
          <a:xfrm>
            <a:off x="285513" y="3429000"/>
            <a:ext cx="3077023" cy="2876550"/>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pic>
      <p:sp>
        <p:nvSpPr>
          <p:cNvPr id="7" name="TextBox 6">
            <a:extLst>
              <a:ext uri="{FF2B5EF4-FFF2-40B4-BE49-F238E27FC236}">
                <a16:creationId xmlns:a16="http://schemas.microsoft.com/office/drawing/2014/main" id="{8515302E-6F1E-E65F-4FD2-C82EBB745818}"/>
              </a:ext>
            </a:extLst>
          </p:cNvPr>
          <p:cNvSpPr txBox="1"/>
          <p:nvPr/>
        </p:nvSpPr>
        <p:spPr>
          <a:xfrm>
            <a:off x="3714750" y="342543"/>
            <a:ext cx="8039100" cy="4647426"/>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GB" b="1" dirty="0"/>
              <a:t>Executive Explanation</a:t>
            </a:r>
            <a:r>
              <a:rPr lang="en-AT" b="1" dirty="0"/>
              <a:t>:</a:t>
            </a:r>
            <a:endParaRPr lang="en-GB" b="1" dirty="0"/>
          </a:p>
          <a:p>
            <a:r>
              <a:rPr lang="en-GB" sz="1400" dirty="0"/>
              <a:t>This slide </a:t>
            </a:r>
            <a:r>
              <a:rPr lang="en-GB" sz="1400" dirty="0" err="1"/>
              <a:t>analyzes</a:t>
            </a:r>
            <a:r>
              <a:rPr lang="en-GB" sz="1400" dirty="0"/>
              <a:t> delay impact by aircraft type from two complementary perspectives: total passenger delay minutes and average delay per delayed flight.</a:t>
            </a:r>
          </a:p>
          <a:p>
            <a:r>
              <a:rPr lang="en-GB" sz="1400" dirty="0"/>
              <a:t>Wide-body aircraft—specifically the Boeing 787, Airbus A350, and Boeing 777—generate the highest total delay minutes. This indicates that delays affecting long-haul fleets have a broader passenger impact due to longer flight durations and higher passenger volumes.</a:t>
            </a:r>
          </a:p>
          <a:p>
            <a:r>
              <a:rPr lang="en-GB" sz="1400" dirty="0"/>
              <a:t>At the same time, these aircraft also show a higher average delay per delayed flight, confirming that when delays occur on wide-body aircraft, they tend to be more severe rather than short, recoverable disruptions.</a:t>
            </a:r>
          </a:p>
          <a:p>
            <a:r>
              <a:rPr lang="en-GB" sz="1400" dirty="0"/>
              <a:t>Overall, this demonstrates that operational issues impacting long-haul fleets have a disproportionately large effect on Lufthansa’s total delay performance.</a:t>
            </a:r>
          </a:p>
          <a:p>
            <a:pPr>
              <a:buNone/>
            </a:pPr>
            <a:endParaRPr lang="en-AT" b="1" dirty="0">
              <a:latin typeface="Calibri" panose="020F0502020204030204" pitchFamily="34" charset="0"/>
              <a:ea typeface="Calibri" panose="020F0502020204030204" pitchFamily="34" charset="0"/>
              <a:cs typeface="Calibri" panose="020F0502020204030204" pitchFamily="34" charset="0"/>
            </a:endParaRPr>
          </a:p>
          <a:p>
            <a:r>
              <a:rPr lang="en-GB" b="1" dirty="0"/>
              <a:t>Business Insight (Executive-Focused)</a:t>
            </a:r>
            <a:r>
              <a:rPr lang="en-AT" b="1" dirty="0"/>
              <a:t>:</a:t>
            </a:r>
          </a:p>
          <a:p>
            <a:endParaRPr lang="en-GB" b="1" dirty="0"/>
          </a:p>
          <a:p>
            <a:r>
              <a:rPr lang="en-GB" sz="1400" dirty="0"/>
              <a:t>Primary optimization opportunity: Wide-body aircraft turnaround, maintenance coordination, and crew readiness</a:t>
            </a:r>
          </a:p>
          <a:p>
            <a:r>
              <a:rPr lang="en-GB" sz="1400" dirty="0"/>
              <a:t>High leverage area: Even small efficiency improvements on long-haul fleets can lead to significant passenger delay reduction</a:t>
            </a:r>
          </a:p>
          <a:p>
            <a:r>
              <a:rPr lang="en-GB" sz="1400" dirty="0"/>
              <a:t>Strategic implication: Delay-reduction initiatives should prioritize aircraft types with the highest combined impact × severity</a:t>
            </a:r>
          </a:p>
        </p:txBody>
      </p:sp>
    </p:spTree>
    <p:extLst>
      <p:ext uri="{BB962C8B-B14F-4D97-AF65-F5344CB8AC3E}">
        <p14:creationId xmlns:p14="http://schemas.microsoft.com/office/powerpoint/2010/main" val="494063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A77E20-950A-3FFA-E499-E203957AAD4E}"/>
              </a:ext>
            </a:extLst>
          </p:cNvPr>
          <p:cNvPicPr>
            <a:picLocks noChangeAspect="1"/>
          </p:cNvPicPr>
          <p:nvPr/>
        </p:nvPicPr>
        <p:blipFill>
          <a:blip r:embed="rId2"/>
          <a:stretch>
            <a:fillRect/>
          </a:stretch>
        </p:blipFill>
        <p:spPr>
          <a:xfrm>
            <a:off x="123567" y="123825"/>
            <a:ext cx="3696216" cy="2305372"/>
          </a:xfrm>
          <a:prstGeom prst="rect">
            <a:avLst/>
          </a:prstGeom>
        </p:spPr>
        <p:style>
          <a:lnRef idx="2">
            <a:schemeClr val="accent4"/>
          </a:lnRef>
          <a:fillRef idx="1">
            <a:schemeClr val="lt1"/>
          </a:fillRef>
          <a:effectRef idx="0">
            <a:schemeClr val="accent4"/>
          </a:effectRef>
          <a:fontRef idx="minor">
            <a:schemeClr val="dk1"/>
          </a:fontRef>
        </p:style>
      </p:pic>
      <p:pic>
        <p:nvPicPr>
          <p:cNvPr id="5" name="Picture 4">
            <a:extLst>
              <a:ext uri="{FF2B5EF4-FFF2-40B4-BE49-F238E27FC236}">
                <a16:creationId xmlns:a16="http://schemas.microsoft.com/office/drawing/2014/main" id="{BBECB135-8F1C-DBC3-D728-F31024241221}"/>
              </a:ext>
            </a:extLst>
          </p:cNvPr>
          <p:cNvPicPr>
            <a:picLocks noChangeAspect="1"/>
          </p:cNvPicPr>
          <p:nvPr/>
        </p:nvPicPr>
        <p:blipFill>
          <a:blip r:embed="rId3"/>
          <a:stretch>
            <a:fillRect/>
          </a:stretch>
        </p:blipFill>
        <p:spPr>
          <a:xfrm>
            <a:off x="123568" y="3219856"/>
            <a:ext cx="3696216" cy="2524990"/>
          </a:xfrm>
          <a:prstGeom prst="rect">
            <a:avLst/>
          </a:prstGeom>
        </p:spPr>
        <p:style>
          <a:lnRef idx="2">
            <a:schemeClr val="accent4"/>
          </a:lnRef>
          <a:fillRef idx="1">
            <a:schemeClr val="lt1"/>
          </a:fillRef>
          <a:effectRef idx="0">
            <a:schemeClr val="accent4"/>
          </a:effectRef>
          <a:fontRef idx="minor">
            <a:schemeClr val="dk1"/>
          </a:fontRef>
        </p:style>
      </p:pic>
      <p:sp>
        <p:nvSpPr>
          <p:cNvPr id="7" name="TextBox 6">
            <a:extLst>
              <a:ext uri="{FF2B5EF4-FFF2-40B4-BE49-F238E27FC236}">
                <a16:creationId xmlns:a16="http://schemas.microsoft.com/office/drawing/2014/main" id="{EDE24A7B-0D1F-E369-1A56-811AF84F78C2}"/>
              </a:ext>
            </a:extLst>
          </p:cNvPr>
          <p:cNvSpPr txBox="1"/>
          <p:nvPr/>
        </p:nvSpPr>
        <p:spPr>
          <a:xfrm>
            <a:off x="4057907" y="657008"/>
            <a:ext cx="8010525" cy="5078313"/>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GB" b="1" dirty="0"/>
              <a:t>Executive Explanation</a:t>
            </a:r>
            <a:r>
              <a:rPr lang="en-AT" b="1" dirty="0"/>
              <a:t>:</a:t>
            </a:r>
            <a:endParaRPr lang="en-GB" b="1" dirty="0"/>
          </a:p>
          <a:p>
            <a:pPr marL="285750" indent="-285750">
              <a:buFont typeface="Wingdings" panose="05000000000000000000" pitchFamily="2" charset="2"/>
              <a:buChar char="Ø"/>
            </a:pPr>
            <a:r>
              <a:rPr lang="en-GB" sz="1400" dirty="0"/>
              <a:t>This slide </a:t>
            </a:r>
            <a:r>
              <a:rPr lang="en-GB" sz="1400" dirty="0" err="1"/>
              <a:t>analyzes</a:t>
            </a:r>
            <a:r>
              <a:rPr lang="en-GB" sz="1400" dirty="0"/>
              <a:t> how frequently delays occur, focusing on two dimensions:</a:t>
            </a:r>
            <a:br>
              <a:rPr lang="en-GB" sz="1400" dirty="0"/>
            </a:br>
            <a:r>
              <a:rPr lang="en-GB" sz="1400" dirty="0"/>
              <a:t>aircraft type and day of the week.</a:t>
            </a:r>
          </a:p>
          <a:p>
            <a:pPr marL="285750" indent="-285750">
              <a:buFont typeface="Wingdings" panose="05000000000000000000" pitchFamily="2" charset="2"/>
              <a:buChar char="Ø"/>
            </a:pPr>
            <a:r>
              <a:rPr lang="en-GB" sz="1400" dirty="0"/>
              <a:t>The upper chart shows that wide-body aircraft—particularly the Boeing 777, Airbus A350, and Boeing 787—experience the highest number of delayed flights. These aircraft are heavily utilized on long-haul routes and typically operate during high-demand time windows, increasing their exposure to operational disruptions.</a:t>
            </a:r>
          </a:p>
          <a:p>
            <a:pPr marL="285750" indent="-285750">
              <a:buFont typeface="Wingdings" panose="05000000000000000000" pitchFamily="2" charset="2"/>
              <a:buChar char="Ø"/>
            </a:pPr>
            <a:r>
              <a:rPr lang="en-GB" sz="1400" dirty="0"/>
              <a:t>The lower chart highlights day-level delay patterns, where weekend and early-week days show a higher concentration of delayed flights. This suggests that traffic density, passenger volume, and network complexity vary significantly by day, influencing delay risk.</a:t>
            </a:r>
          </a:p>
          <a:p>
            <a:pPr marL="285750" indent="-285750">
              <a:buFont typeface="Wingdings" panose="05000000000000000000" pitchFamily="2" charset="2"/>
              <a:buChar char="Ø"/>
            </a:pPr>
            <a:r>
              <a:rPr lang="en-GB" sz="1400" dirty="0"/>
              <a:t>Together, these charts indicate that delay frequency is not random but strongly influenced by fleet composition and scheduling patterns.</a:t>
            </a:r>
            <a:endParaRPr lang="en-AT" sz="1400" dirty="0"/>
          </a:p>
          <a:p>
            <a:pPr marL="285750" indent="-285750">
              <a:buFont typeface="Wingdings" panose="05000000000000000000" pitchFamily="2" charset="2"/>
              <a:buChar char="Ø"/>
            </a:pPr>
            <a:endParaRPr lang="en-GB" sz="1400" dirty="0"/>
          </a:p>
          <a:p>
            <a:r>
              <a:rPr lang="en-AT" b="1" dirty="0"/>
              <a:t>  </a:t>
            </a:r>
            <a:r>
              <a:rPr lang="en-GB" b="1" dirty="0"/>
              <a:t>Business Insight</a:t>
            </a:r>
            <a:r>
              <a:rPr lang="en-AT" b="1" dirty="0"/>
              <a:t>:</a:t>
            </a:r>
          </a:p>
          <a:p>
            <a:endParaRPr lang="en-AT" b="1" dirty="0"/>
          </a:p>
          <a:p>
            <a:pPr marL="285750" indent="-285750">
              <a:buFont typeface="Wingdings" panose="05000000000000000000" pitchFamily="2" charset="2"/>
              <a:buChar char="Ø"/>
            </a:pPr>
            <a:r>
              <a:rPr lang="en-GB" sz="1400" dirty="0"/>
              <a:t>Key risk factor: Peak-hour and peak-day utilization of wide-body aircraft</a:t>
            </a:r>
          </a:p>
          <a:p>
            <a:pPr marL="285750" indent="-285750">
              <a:buFont typeface="Wingdings" panose="05000000000000000000" pitchFamily="2" charset="2"/>
              <a:buChar char="Ø"/>
            </a:pPr>
            <a:r>
              <a:rPr lang="en-GB" sz="1400" dirty="0"/>
              <a:t>Operational opportunity:</a:t>
            </a:r>
          </a:p>
          <a:p>
            <a:pPr marL="742950" lvl="1" indent="-285750">
              <a:buFont typeface="Arial" panose="020B0604020202020204" pitchFamily="34" charset="0"/>
              <a:buChar char="•"/>
            </a:pPr>
            <a:r>
              <a:rPr lang="en-GB" sz="1400" dirty="0"/>
              <a:t>Smoother schedule distribution across days</a:t>
            </a:r>
          </a:p>
          <a:p>
            <a:pPr marL="742950" lvl="1" indent="-285750">
              <a:buFont typeface="Arial" panose="020B0604020202020204" pitchFamily="34" charset="0"/>
              <a:buChar char="•"/>
            </a:pPr>
            <a:r>
              <a:rPr lang="en-GB" sz="1400" dirty="0"/>
              <a:t>Additional buffer time for long-haul aircraft during high-risk periods</a:t>
            </a:r>
          </a:p>
          <a:p>
            <a:pPr marL="285750" indent="-285750">
              <a:buFont typeface="Wingdings" panose="05000000000000000000" pitchFamily="2" charset="2"/>
              <a:buChar char="Ø"/>
            </a:pPr>
            <a:r>
              <a:rPr lang="en-GB" sz="1400" dirty="0"/>
              <a:t>Strategic takeaway: Reducing delay frequency requires capacity-aware scheduling, not only reactive delay management</a:t>
            </a:r>
          </a:p>
          <a:p>
            <a:pPr>
              <a:buNone/>
            </a:pPr>
            <a:endParaRPr lang="en-AT" b="1" dirty="0"/>
          </a:p>
        </p:txBody>
      </p:sp>
    </p:spTree>
    <p:extLst>
      <p:ext uri="{BB962C8B-B14F-4D97-AF65-F5344CB8AC3E}">
        <p14:creationId xmlns:p14="http://schemas.microsoft.com/office/powerpoint/2010/main" val="1820203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EF4E39-EF7B-D693-EDF6-1D8565299F6A}"/>
              </a:ext>
            </a:extLst>
          </p:cNvPr>
          <p:cNvPicPr>
            <a:picLocks noChangeAspect="1"/>
          </p:cNvPicPr>
          <p:nvPr/>
        </p:nvPicPr>
        <p:blipFill>
          <a:blip r:embed="rId2"/>
          <a:stretch>
            <a:fillRect/>
          </a:stretch>
        </p:blipFill>
        <p:spPr>
          <a:xfrm>
            <a:off x="66675" y="409212"/>
            <a:ext cx="4524375" cy="5201376"/>
          </a:xfrm>
          <a:prstGeom prst="rect">
            <a:avLst/>
          </a:prstGeom>
        </p:spPr>
        <p:style>
          <a:lnRef idx="2">
            <a:schemeClr val="accent1"/>
          </a:lnRef>
          <a:fillRef idx="1">
            <a:schemeClr val="lt1"/>
          </a:fillRef>
          <a:effectRef idx="0">
            <a:schemeClr val="accent1"/>
          </a:effectRef>
          <a:fontRef idx="minor">
            <a:schemeClr val="dk1"/>
          </a:fontRef>
        </p:style>
      </p:pic>
      <p:sp>
        <p:nvSpPr>
          <p:cNvPr id="5" name="TextBox 4">
            <a:extLst>
              <a:ext uri="{FF2B5EF4-FFF2-40B4-BE49-F238E27FC236}">
                <a16:creationId xmlns:a16="http://schemas.microsoft.com/office/drawing/2014/main" id="{22A2AC4C-A63A-3057-4E77-802B80B785A5}"/>
              </a:ext>
            </a:extLst>
          </p:cNvPr>
          <p:cNvSpPr txBox="1"/>
          <p:nvPr/>
        </p:nvSpPr>
        <p:spPr>
          <a:xfrm>
            <a:off x="4695825" y="409212"/>
            <a:ext cx="7315199" cy="209288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buNone/>
            </a:pPr>
            <a:r>
              <a:rPr lang="en-GB" sz="1600" b="1" dirty="0"/>
              <a:t>Total Flights vs Off-Peak Flights by Flight Day (Top Chart)</a:t>
            </a:r>
          </a:p>
          <a:p>
            <a:pPr>
              <a:buNone/>
            </a:pPr>
            <a:r>
              <a:rPr lang="en-GB" sz="1600" b="1" dirty="0"/>
              <a:t>Explanation:</a:t>
            </a:r>
            <a:br>
              <a:rPr lang="en-GB" dirty="0"/>
            </a:br>
            <a:r>
              <a:rPr lang="en-GB" sz="1400" dirty="0"/>
              <a:t>This chart illustrates the distribution of total flights compared with off-peak flights across different days of the week.</a:t>
            </a:r>
          </a:p>
          <a:p>
            <a:pPr>
              <a:buFont typeface="Arial" panose="020B0604020202020204" pitchFamily="34" charset="0"/>
              <a:buChar char="•"/>
            </a:pPr>
            <a:r>
              <a:rPr lang="en-GB" sz="1400" dirty="0"/>
              <a:t>Friday shows the highest overall flight volume, indicating strong end-of-week travel demand.</a:t>
            </a:r>
          </a:p>
          <a:p>
            <a:pPr>
              <a:buFont typeface="Arial" panose="020B0604020202020204" pitchFamily="34" charset="0"/>
              <a:buChar char="•"/>
            </a:pPr>
            <a:r>
              <a:rPr lang="en-GB" sz="1400" dirty="0"/>
              <a:t>After Friday, total flight volume drops sharply on Sunday and then stabilizes during weekdays.</a:t>
            </a:r>
          </a:p>
          <a:p>
            <a:pPr>
              <a:buFont typeface="Arial" panose="020B0604020202020204" pitchFamily="34" charset="0"/>
              <a:buChar char="•"/>
            </a:pPr>
            <a:r>
              <a:rPr lang="en-GB" sz="1400" dirty="0"/>
              <a:t>Off-peak flights follow a similar pattern but remain consistently lower than total flights, reflecting structured scheduling outside peak hours.</a:t>
            </a:r>
          </a:p>
        </p:txBody>
      </p:sp>
      <p:sp>
        <p:nvSpPr>
          <p:cNvPr id="7" name="TextBox 6">
            <a:extLst>
              <a:ext uri="{FF2B5EF4-FFF2-40B4-BE49-F238E27FC236}">
                <a16:creationId xmlns:a16="http://schemas.microsoft.com/office/drawing/2014/main" id="{36336A6A-E8C3-83D1-E2D6-CCF1E348E1C6}"/>
              </a:ext>
            </a:extLst>
          </p:cNvPr>
          <p:cNvSpPr txBox="1"/>
          <p:nvPr/>
        </p:nvSpPr>
        <p:spPr>
          <a:xfrm>
            <a:off x="4695825" y="3240465"/>
            <a:ext cx="7315198" cy="1723549"/>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buNone/>
            </a:pPr>
            <a:r>
              <a:rPr lang="en-GB" b="1" dirty="0"/>
              <a:t>Total Flights vs Peak Flights by Flight Day (Bottom Chart)</a:t>
            </a:r>
          </a:p>
          <a:p>
            <a:pPr>
              <a:buNone/>
            </a:pPr>
            <a:r>
              <a:rPr lang="en-GB" b="1" dirty="0"/>
              <a:t>Explanation:</a:t>
            </a:r>
            <a:br>
              <a:rPr lang="en-GB" dirty="0"/>
            </a:br>
            <a:r>
              <a:rPr lang="en-GB" sz="1400" dirty="0"/>
              <a:t>This chart compares total flights with peak-hour flights across the week.</a:t>
            </a:r>
          </a:p>
          <a:p>
            <a:pPr>
              <a:buFont typeface="Arial" panose="020B0604020202020204" pitchFamily="34" charset="0"/>
              <a:buChar char="•"/>
            </a:pPr>
            <a:r>
              <a:rPr lang="en-GB" sz="1400" dirty="0"/>
              <a:t>Peak flights are most concentrated on Friday, aligning with high passenger demand.</a:t>
            </a:r>
          </a:p>
          <a:p>
            <a:pPr>
              <a:buFont typeface="Arial" panose="020B0604020202020204" pitchFamily="34" charset="0"/>
              <a:buChar char="•"/>
            </a:pPr>
            <a:r>
              <a:rPr lang="en-GB" sz="1400" dirty="0"/>
              <a:t>After the weekend, peak flight volumes decrease and remain relatively flat during weekdays.</a:t>
            </a:r>
          </a:p>
          <a:p>
            <a:pPr>
              <a:buFont typeface="Arial" panose="020B0604020202020204" pitchFamily="34" charset="0"/>
              <a:buChar char="•"/>
            </a:pPr>
            <a:r>
              <a:rPr lang="en-GB" sz="1400" dirty="0"/>
              <a:t>The gap between total flights and peak flights highlights that only a portion of daily operations occur during peak hours, even on high-traffic days.</a:t>
            </a:r>
          </a:p>
        </p:txBody>
      </p:sp>
    </p:spTree>
    <p:extLst>
      <p:ext uri="{BB962C8B-B14F-4D97-AF65-F5344CB8AC3E}">
        <p14:creationId xmlns:p14="http://schemas.microsoft.com/office/powerpoint/2010/main" val="19686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B8D1C6-66BD-2333-DD36-7B5A53174FB9}"/>
              </a:ext>
            </a:extLst>
          </p:cNvPr>
          <p:cNvPicPr>
            <a:picLocks noChangeAspect="1"/>
          </p:cNvPicPr>
          <p:nvPr/>
        </p:nvPicPr>
        <p:blipFill>
          <a:blip r:embed="rId2"/>
          <a:stretch>
            <a:fillRect/>
          </a:stretch>
        </p:blipFill>
        <p:spPr>
          <a:xfrm>
            <a:off x="133350" y="107715"/>
            <a:ext cx="4724400" cy="3419555"/>
          </a:xfrm>
          <a:prstGeom prst="rect">
            <a:avLst/>
          </a:prstGeom>
        </p:spPr>
        <p:style>
          <a:lnRef idx="2">
            <a:schemeClr val="accent4">
              <a:shade val="15000"/>
            </a:schemeClr>
          </a:lnRef>
          <a:fillRef idx="1">
            <a:schemeClr val="accent4"/>
          </a:fillRef>
          <a:effectRef idx="0">
            <a:schemeClr val="accent4"/>
          </a:effectRef>
          <a:fontRef idx="minor">
            <a:schemeClr val="lt1"/>
          </a:fontRef>
        </p:style>
      </p:pic>
      <p:sp>
        <p:nvSpPr>
          <p:cNvPr id="5" name="TextBox 4">
            <a:extLst>
              <a:ext uri="{FF2B5EF4-FFF2-40B4-BE49-F238E27FC236}">
                <a16:creationId xmlns:a16="http://schemas.microsoft.com/office/drawing/2014/main" id="{1AA77492-72C6-5F7C-EA86-E8DC88083350}"/>
              </a:ext>
            </a:extLst>
          </p:cNvPr>
          <p:cNvSpPr txBox="1"/>
          <p:nvPr/>
        </p:nvSpPr>
        <p:spPr>
          <a:xfrm>
            <a:off x="5010150" y="107715"/>
            <a:ext cx="6972300" cy="184665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buNone/>
            </a:pPr>
            <a:r>
              <a:rPr lang="en-GB" b="1" dirty="0"/>
              <a:t>Total Peak vs Off-Peak Flights (Left Chart)</a:t>
            </a:r>
          </a:p>
          <a:p>
            <a:pPr>
              <a:buNone/>
            </a:pPr>
            <a:r>
              <a:rPr lang="en-GB" sz="1600" dirty="0"/>
              <a:t>This chart compares the volume of flights operated during peak and off-peak hours.</a:t>
            </a:r>
          </a:p>
          <a:p>
            <a:pPr>
              <a:buFont typeface="Arial" panose="020B0604020202020204" pitchFamily="34" charset="0"/>
              <a:buChar char="•"/>
            </a:pPr>
            <a:r>
              <a:rPr lang="en-GB" sz="1600" dirty="0"/>
              <a:t>Off-peak flights are slightly higher in number than peak flights.</a:t>
            </a:r>
          </a:p>
          <a:p>
            <a:pPr>
              <a:buFont typeface="Arial" panose="020B0604020202020204" pitchFamily="34" charset="0"/>
              <a:buChar char="•"/>
            </a:pPr>
            <a:r>
              <a:rPr lang="en-GB" sz="1600" dirty="0"/>
              <a:t>Peak flights represent a smaller share of total operations, but they are strategically important because they occur during high-demand time windows.</a:t>
            </a:r>
          </a:p>
        </p:txBody>
      </p:sp>
      <p:sp>
        <p:nvSpPr>
          <p:cNvPr id="7" name="TextBox 6">
            <a:extLst>
              <a:ext uri="{FF2B5EF4-FFF2-40B4-BE49-F238E27FC236}">
                <a16:creationId xmlns:a16="http://schemas.microsoft.com/office/drawing/2014/main" id="{FF22E676-2CFF-B62D-8B8D-8BE202E9D39B}"/>
              </a:ext>
            </a:extLst>
          </p:cNvPr>
          <p:cNvSpPr txBox="1"/>
          <p:nvPr/>
        </p:nvSpPr>
        <p:spPr>
          <a:xfrm>
            <a:off x="5114926" y="2090916"/>
            <a:ext cx="6972299" cy="2523768"/>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solidFill>
              <a:schemeClr val="accent1"/>
            </a:solidFill>
          </a:ln>
          <a:scene3d>
            <a:camera prst="perspectiveRight"/>
            <a:lightRig rig="threePt" dir="t"/>
          </a:scene3d>
        </p:spPr>
        <p:style>
          <a:lnRef idx="0">
            <a:scrgbClr r="0" g="0" b="0"/>
          </a:lnRef>
          <a:fillRef idx="0">
            <a:scrgbClr r="0" g="0" b="0"/>
          </a:fillRef>
          <a:effectRef idx="0">
            <a:scrgbClr r="0" g="0" b="0"/>
          </a:effectRef>
          <a:fontRef idx="minor">
            <a:schemeClr val="lt1"/>
          </a:fontRef>
        </p:style>
        <p:txBody>
          <a:bodyPr wrap="square">
            <a:spAutoFit/>
          </a:bodyPr>
          <a:lstStyle/>
          <a:p>
            <a:pPr>
              <a:buNone/>
            </a:pPr>
            <a:r>
              <a:rPr lang="en-GB" b="1" dirty="0"/>
              <a:t>True Delay Minutes vs Process Delay Minutes (Right Chart)</a:t>
            </a:r>
          </a:p>
          <a:p>
            <a:pPr>
              <a:buNone/>
            </a:pPr>
            <a:r>
              <a:rPr lang="en-GB" sz="1400" dirty="0"/>
              <a:t>This chart compares:</a:t>
            </a:r>
          </a:p>
          <a:p>
            <a:pPr>
              <a:buFont typeface="Arial" panose="020B0604020202020204" pitchFamily="34" charset="0"/>
              <a:buChar char="•"/>
            </a:pPr>
            <a:r>
              <a:rPr lang="en-GB" sz="1400" dirty="0"/>
              <a:t>Total Process Delay Minutes (internal operational delays), and</a:t>
            </a:r>
          </a:p>
          <a:p>
            <a:pPr>
              <a:buFont typeface="Arial" panose="020B0604020202020204" pitchFamily="34" charset="0"/>
              <a:buChar char="•"/>
            </a:pPr>
            <a:r>
              <a:rPr lang="en-GB" sz="1400" dirty="0"/>
              <a:t>Total True Delay Minutes (actual passenger-experienced delays).</a:t>
            </a:r>
          </a:p>
          <a:p>
            <a:pPr>
              <a:buNone/>
            </a:pPr>
            <a:r>
              <a:rPr lang="en-GB" sz="1400" dirty="0"/>
              <a:t>Key observations:</a:t>
            </a:r>
          </a:p>
          <a:p>
            <a:pPr>
              <a:buFont typeface="Arial" panose="020B0604020202020204" pitchFamily="34" charset="0"/>
              <a:buChar char="•"/>
            </a:pPr>
            <a:r>
              <a:rPr lang="en-GB" sz="1400" dirty="0"/>
              <a:t>Process delay minutes are extremely high in both peak and off-peak periods.</a:t>
            </a:r>
          </a:p>
          <a:p>
            <a:pPr>
              <a:buFont typeface="Arial" panose="020B0604020202020204" pitchFamily="34" charset="0"/>
              <a:buChar char="•"/>
            </a:pPr>
            <a:r>
              <a:rPr lang="en-GB" sz="1400" dirty="0"/>
              <a:t>However, true passenger delay minutes are significantly lower, especially during peak hours.</a:t>
            </a:r>
          </a:p>
          <a:p>
            <a:pPr>
              <a:buNone/>
            </a:pPr>
            <a:r>
              <a:rPr lang="en-GB" sz="1400" dirty="0"/>
              <a:t>Interpretation:</a:t>
            </a:r>
            <a:br>
              <a:rPr lang="en-GB" sz="1400" dirty="0"/>
            </a:br>
            <a:r>
              <a:rPr lang="en-GB" sz="1400" dirty="0"/>
              <a:t>Although internal operational delays increase during peak hours, only a portion of that delay is passed on to passengers.</a:t>
            </a:r>
          </a:p>
        </p:txBody>
      </p:sp>
      <p:sp>
        <p:nvSpPr>
          <p:cNvPr id="9" name="TextBox 8">
            <a:extLst>
              <a:ext uri="{FF2B5EF4-FFF2-40B4-BE49-F238E27FC236}">
                <a16:creationId xmlns:a16="http://schemas.microsoft.com/office/drawing/2014/main" id="{5F33CD99-0902-8EBD-6CCF-9363F295BD16}"/>
              </a:ext>
            </a:extLst>
          </p:cNvPr>
          <p:cNvSpPr txBox="1"/>
          <p:nvPr/>
        </p:nvSpPr>
        <p:spPr>
          <a:xfrm>
            <a:off x="571500" y="5396068"/>
            <a:ext cx="11772900" cy="135421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accent2">
                <a:lumMod val="75000"/>
              </a:schemeClr>
            </a:solidFill>
          </a:ln>
          <a:scene3d>
            <a:camera prst="perspectiveRight"/>
            <a:lightRig rig="threePt" dir="t"/>
          </a:scene3d>
        </p:spPr>
        <p:style>
          <a:lnRef idx="0">
            <a:scrgbClr r="0" g="0" b="0"/>
          </a:lnRef>
          <a:fillRef idx="0">
            <a:scrgbClr r="0" g="0" b="0"/>
          </a:fillRef>
          <a:effectRef idx="0">
            <a:scrgbClr r="0" g="0" b="0"/>
          </a:effectRef>
          <a:fontRef idx="minor">
            <a:schemeClr val="lt1"/>
          </a:fontRef>
        </p:style>
        <p:txBody>
          <a:bodyPr wrap="square">
            <a:spAutoFit/>
          </a:bodyPr>
          <a:lstStyle/>
          <a:p>
            <a:pPr>
              <a:buNone/>
            </a:pPr>
            <a:r>
              <a:rPr lang="en-GB" b="1" dirty="0"/>
              <a:t>Business Impact (Use This Section as Highlight)</a:t>
            </a:r>
          </a:p>
          <a:p>
            <a:pPr>
              <a:buFont typeface="Arial" panose="020B0604020202020204" pitchFamily="34" charset="0"/>
              <a:buChar char="•"/>
            </a:pPr>
            <a:r>
              <a:rPr lang="en-GB" sz="1600" dirty="0"/>
              <a:t>Operational strength: Lufthansa demonstrates strong delay-absorption capability during peak hours</a:t>
            </a:r>
          </a:p>
          <a:p>
            <a:pPr>
              <a:buFont typeface="Arial" panose="020B0604020202020204" pitchFamily="34" charset="0"/>
              <a:buChar char="•"/>
            </a:pPr>
            <a:r>
              <a:rPr lang="en-GB" sz="1600" dirty="0"/>
              <a:t>Risk indicator: High internal process delays signal hidden inefficiencies in ground operations and turnaround activities</a:t>
            </a:r>
          </a:p>
          <a:p>
            <a:pPr>
              <a:buFont typeface="Arial" panose="020B0604020202020204" pitchFamily="34" charset="0"/>
              <a:buChar char="•"/>
            </a:pPr>
            <a:r>
              <a:rPr lang="en-GB" sz="1600" dirty="0"/>
              <a:t>Optimization opportunity:</a:t>
            </a:r>
            <a:br>
              <a:rPr lang="en-GB" sz="1600" dirty="0"/>
            </a:br>
            <a:r>
              <a:rPr lang="en-GB" sz="1600" dirty="0"/>
              <a:t>Reducing process-level delays—even slightly—can significantly lower operational cost without impacting customer experience</a:t>
            </a:r>
          </a:p>
        </p:txBody>
      </p:sp>
    </p:spTree>
    <p:extLst>
      <p:ext uri="{BB962C8B-B14F-4D97-AF65-F5344CB8AC3E}">
        <p14:creationId xmlns:p14="http://schemas.microsoft.com/office/powerpoint/2010/main" val="2890850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4C89FE-81D8-45D3-A97C-A8ABB069BB35}"/>
              </a:ext>
            </a:extLst>
          </p:cNvPr>
          <p:cNvPicPr>
            <a:picLocks noChangeAspect="1"/>
          </p:cNvPicPr>
          <p:nvPr/>
        </p:nvPicPr>
        <p:blipFill>
          <a:blip r:embed="rId2"/>
          <a:stretch>
            <a:fillRect/>
          </a:stretch>
        </p:blipFill>
        <p:spPr>
          <a:xfrm>
            <a:off x="109267" y="128349"/>
            <a:ext cx="3329258" cy="2936618"/>
          </a:xfrm>
          <a:prstGeom prst="rect">
            <a:avLst/>
          </a:prstGeom>
        </p:spPr>
        <p:style>
          <a:lnRef idx="2">
            <a:schemeClr val="accent4"/>
          </a:lnRef>
          <a:fillRef idx="1">
            <a:schemeClr val="lt1"/>
          </a:fillRef>
          <a:effectRef idx="0">
            <a:schemeClr val="accent4"/>
          </a:effectRef>
          <a:fontRef idx="minor">
            <a:schemeClr val="dk1"/>
          </a:fontRef>
        </p:style>
      </p:pic>
      <p:pic>
        <p:nvPicPr>
          <p:cNvPr id="6" name="Picture 5">
            <a:extLst>
              <a:ext uri="{FF2B5EF4-FFF2-40B4-BE49-F238E27FC236}">
                <a16:creationId xmlns:a16="http://schemas.microsoft.com/office/drawing/2014/main" id="{76B30A6B-4D60-D433-4EBB-422430216F8B}"/>
              </a:ext>
            </a:extLst>
          </p:cNvPr>
          <p:cNvPicPr>
            <a:picLocks noChangeAspect="1"/>
          </p:cNvPicPr>
          <p:nvPr/>
        </p:nvPicPr>
        <p:blipFill>
          <a:blip r:embed="rId3"/>
          <a:stretch>
            <a:fillRect/>
          </a:stretch>
        </p:blipFill>
        <p:spPr>
          <a:xfrm>
            <a:off x="109267" y="3181349"/>
            <a:ext cx="3329258" cy="3548301"/>
          </a:xfrm>
          <a:prstGeom prst="rect">
            <a:avLst/>
          </a:prstGeom>
        </p:spPr>
        <p:style>
          <a:lnRef idx="2">
            <a:schemeClr val="accent4"/>
          </a:lnRef>
          <a:fillRef idx="1">
            <a:schemeClr val="lt1"/>
          </a:fillRef>
          <a:effectRef idx="0">
            <a:schemeClr val="accent4"/>
          </a:effectRef>
          <a:fontRef idx="minor">
            <a:schemeClr val="dk1"/>
          </a:fontRef>
        </p:style>
      </p:pic>
      <p:sp>
        <p:nvSpPr>
          <p:cNvPr id="8" name="TextBox 7">
            <a:extLst>
              <a:ext uri="{FF2B5EF4-FFF2-40B4-BE49-F238E27FC236}">
                <a16:creationId xmlns:a16="http://schemas.microsoft.com/office/drawing/2014/main" id="{81FB2565-2779-93A4-B4CC-A20FC452891D}"/>
              </a:ext>
            </a:extLst>
          </p:cNvPr>
          <p:cNvSpPr txBox="1"/>
          <p:nvPr/>
        </p:nvSpPr>
        <p:spPr>
          <a:xfrm>
            <a:off x="3571875" y="128349"/>
            <a:ext cx="8372474" cy="2585323"/>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buNone/>
            </a:pPr>
            <a:r>
              <a:rPr lang="en-GB" b="1" i="1" dirty="0">
                <a:solidFill>
                  <a:schemeClr val="tx1"/>
                </a:solidFill>
              </a:rPr>
              <a:t>Total Flights by Flight Day</a:t>
            </a:r>
            <a:r>
              <a:rPr lang="en-GB" b="1" dirty="0">
                <a:solidFill>
                  <a:schemeClr val="tx1"/>
                </a:solidFill>
              </a:rPr>
              <a:t> (Left / Top Chart)</a:t>
            </a:r>
          </a:p>
          <a:p>
            <a:pPr>
              <a:buNone/>
            </a:pPr>
            <a:r>
              <a:rPr lang="en-GB" b="1" dirty="0">
                <a:solidFill>
                  <a:schemeClr val="tx1"/>
                </a:solidFill>
              </a:rPr>
              <a:t>Explanation:</a:t>
            </a:r>
            <a:br>
              <a:rPr lang="en-GB" dirty="0">
                <a:solidFill>
                  <a:schemeClr val="tx1"/>
                </a:solidFill>
              </a:rPr>
            </a:br>
            <a:r>
              <a:rPr lang="en-GB" sz="1400" dirty="0">
                <a:solidFill>
                  <a:schemeClr val="tx1"/>
                </a:solidFill>
              </a:rPr>
              <a:t>This chart shows the total number of Lufthansa flights operated on each day of the week.</a:t>
            </a:r>
          </a:p>
          <a:p>
            <a:pPr>
              <a:buNone/>
            </a:pPr>
            <a:r>
              <a:rPr lang="en-GB" sz="1400" dirty="0">
                <a:solidFill>
                  <a:schemeClr val="tx1"/>
                </a:solidFill>
              </a:rPr>
              <a:t>Key Observations:</a:t>
            </a:r>
          </a:p>
          <a:p>
            <a:pPr>
              <a:buFont typeface="Arial" panose="020B0604020202020204" pitchFamily="34" charset="0"/>
              <a:buChar char="•"/>
            </a:pPr>
            <a:r>
              <a:rPr lang="en-GB" sz="1400" dirty="0">
                <a:solidFill>
                  <a:schemeClr val="tx1"/>
                </a:solidFill>
              </a:rPr>
              <a:t>Friday records the highest number of flights (393), indicating strong end-of-week travel demand.</a:t>
            </a:r>
          </a:p>
          <a:p>
            <a:pPr>
              <a:buFont typeface="Arial" panose="020B0604020202020204" pitchFamily="34" charset="0"/>
              <a:buChar char="•"/>
            </a:pPr>
            <a:r>
              <a:rPr lang="en-GB" sz="1400" dirty="0">
                <a:solidFill>
                  <a:schemeClr val="tx1"/>
                </a:solidFill>
              </a:rPr>
              <a:t>After Friday, total flight volume drops sharply on Sunday (231) and then remains relatively stable during weekdays.</a:t>
            </a:r>
          </a:p>
          <a:p>
            <a:pPr>
              <a:buFont typeface="Arial" panose="020B0604020202020204" pitchFamily="34" charset="0"/>
              <a:buChar char="•"/>
            </a:pPr>
            <a:r>
              <a:rPr lang="en-GB" sz="1400" dirty="0">
                <a:solidFill>
                  <a:schemeClr val="tx1"/>
                </a:solidFill>
              </a:rPr>
              <a:t>Saturday has the lowest total flight volume (205), reflecting reduced business and commuter travel.</a:t>
            </a:r>
          </a:p>
          <a:p>
            <a:pPr>
              <a:buNone/>
            </a:pPr>
            <a:r>
              <a:rPr lang="en-GB" sz="1400" dirty="0">
                <a:solidFill>
                  <a:schemeClr val="tx1"/>
                </a:solidFill>
              </a:rPr>
              <a:t>Interpretation:</a:t>
            </a:r>
            <a:br>
              <a:rPr lang="en-GB" sz="1400" dirty="0">
                <a:solidFill>
                  <a:schemeClr val="tx1"/>
                </a:solidFill>
              </a:rPr>
            </a:br>
            <a:r>
              <a:rPr lang="en-GB" sz="1400" dirty="0">
                <a:solidFill>
                  <a:schemeClr val="tx1"/>
                </a:solidFill>
              </a:rPr>
              <a:t>Lufthansa’s weekly schedule is clearly demand-driven, with capacity peaking toward the end of the workweek and stabilizing during regular weekdays.</a:t>
            </a:r>
          </a:p>
        </p:txBody>
      </p:sp>
      <p:sp>
        <p:nvSpPr>
          <p:cNvPr id="10" name="TextBox 9">
            <a:extLst>
              <a:ext uri="{FF2B5EF4-FFF2-40B4-BE49-F238E27FC236}">
                <a16:creationId xmlns:a16="http://schemas.microsoft.com/office/drawing/2014/main" id="{60F71A83-0CDF-4262-F905-354CE7FD584E}"/>
              </a:ext>
            </a:extLst>
          </p:cNvPr>
          <p:cNvSpPr txBox="1"/>
          <p:nvPr/>
        </p:nvSpPr>
        <p:spPr>
          <a:xfrm>
            <a:off x="3571875" y="2820145"/>
            <a:ext cx="8372474" cy="2800767"/>
          </a:xfrm>
          <a:prstGeom prst="rect">
            <a:avLst/>
          </a:prstGeom>
          <a:ln/>
        </p:spPr>
        <p:style>
          <a:lnRef idx="1">
            <a:schemeClr val="accent4"/>
          </a:lnRef>
          <a:fillRef idx="2">
            <a:schemeClr val="accent4"/>
          </a:fillRef>
          <a:effectRef idx="1">
            <a:schemeClr val="accent4"/>
          </a:effectRef>
          <a:fontRef idx="minor">
            <a:schemeClr val="dk1"/>
          </a:fontRef>
        </p:style>
        <p:txBody>
          <a:bodyPr wrap="square">
            <a:spAutoFit/>
          </a:bodyPr>
          <a:lstStyle/>
          <a:p>
            <a:pPr>
              <a:buNone/>
            </a:pPr>
            <a:r>
              <a:rPr lang="en-GB" b="1" i="1" dirty="0">
                <a:solidFill>
                  <a:schemeClr val="tx1"/>
                </a:solidFill>
              </a:rPr>
              <a:t>Delayed Flights by Flight Day</a:t>
            </a:r>
            <a:r>
              <a:rPr lang="en-GB" b="1" dirty="0">
                <a:solidFill>
                  <a:schemeClr val="tx1"/>
                </a:solidFill>
              </a:rPr>
              <a:t> (Right / Bottom Chart)</a:t>
            </a:r>
          </a:p>
          <a:p>
            <a:pPr>
              <a:buNone/>
            </a:pPr>
            <a:r>
              <a:rPr lang="en-GB" b="1" dirty="0">
                <a:solidFill>
                  <a:schemeClr val="tx1"/>
                </a:solidFill>
              </a:rPr>
              <a:t>Explanation:</a:t>
            </a:r>
            <a:br>
              <a:rPr lang="en-GB" dirty="0">
                <a:solidFill>
                  <a:schemeClr val="tx1"/>
                </a:solidFill>
              </a:rPr>
            </a:br>
            <a:r>
              <a:rPr lang="en-GB" sz="1400" dirty="0">
                <a:solidFill>
                  <a:schemeClr val="tx1"/>
                </a:solidFill>
              </a:rPr>
              <a:t>This chart shows the number of delayed flights for each day of the week.</a:t>
            </a:r>
          </a:p>
          <a:p>
            <a:pPr>
              <a:buNone/>
            </a:pPr>
            <a:r>
              <a:rPr lang="en-GB" sz="1400" dirty="0">
                <a:solidFill>
                  <a:schemeClr val="tx1"/>
                </a:solidFill>
              </a:rPr>
              <a:t>Key Observations:</a:t>
            </a:r>
          </a:p>
          <a:p>
            <a:pPr>
              <a:buFont typeface="Arial" panose="020B0604020202020204" pitchFamily="34" charset="0"/>
              <a:buChar char="•"/>
            </a:pPr>
            <a:r>
              <a:rPr lang="en-GB" sz="1400" dirty="0">
                <a:solidFill>
                  <a:schemeClr val="tx1"/>
                </a:solidFill>
              </a:rPr>
              <a:t>Sunday has the highest number of delayed flights (89), despite not having the highest total flight volume.</a:t>
            </a:r>
          </a:p>
          <a:p>
            <a:pPr>
              <a:buFont typeface="Arial" panose="020B0604020202020204" pitchFamily="34" charset="0"/>
              <a:buChar char="•"/>
            </a:pPr>
            <a:r>
              <a:rPr lang="en-GB" sz="1400" dirty="0">
                <a:solidFill>
                  <a:schemeClr val="tx1"/>
                </a:solidFill>
              </a:rPr>
              <a:t>Friday, although the busiest day, has the lowest delayed flights (66).</a:t>
            </a:r>
          </a:p>
          <a:p>
            <a:pPr>
              <a:buFont typeface="Arial" panose="020B0604020202020204" pitchFamily="34" charset="0"/>
              <a:buChar char="•"/>
            </a:pPr>
            <a:r>
              <a:rPr lang="en-GB" sz="1400" dirty="0">
                <a:solidFill>
                  <a:schemeClr val="tx1"/>
                </a:solidFill>
              </a:rPr>
              <a:t>Delay counts remain relatively high on Saturday and Thursday, indicating operational pressure during weekends.</a:t>
            </a:r>
          </a:p>
          <a:p>
            <a:pPr>
              <a:buNone/>
            </a:pPr>
            <a:r>
              <a:rPr lang="en-GB" sz="1400" dirty="0">
                <a:solidFill>
                  <a:schemeClr val="tx1"/>
                </a:solidFill>
              </a:rPr>
              <a:t>Interpretation:</a:t>
            </a:r>
            <a:br>
              <a:rPr lang="en-GB" sz="1400" dirty="0">
                <a:solidFill>
                  <a:schemeClr val="tx1"/>
                </a:solidFill>
              </a:rPr>
            </a:br>
            <a:r>
              <a:rPr lang="en-GB" sz="1400" dirty="0">
                <a:solidFill>
                  <a:schemeClr val="tx1"/>
                </a:solidFill>
              </a:rPr>
              <a:t>Flight delays are not directly proportional to flight volume.</a:t>
            </a:r>
            <a:br>
              <a:rPr lang="en-GB" sz="1400" dirty="0">
                <a:solidFill>
                  <a:schemeClr val="tx1"/>
                </a:solidFill>
              </a:rPr>
            </a:br>
            <a:r>
              <a:rPr lang="en-GB" sz="1400" dirty="0">
                <a:solidFill>
                  <a:schemeClr val="tx1"/>
                </a:solidFill>
              </a:rPr>
              <a:t>Instead, they appear to be influenced by operational recovery challenges, weekend scheduling constraints, and aircraft/crew rotation patterns.</a:t>
            </a:r>
          </a:p>
        </p:txBody>
      </p:sp>
      <p:sp>
        <p:nvSpPr>
          <p:cNvPr id="12" name="TextBox 11">
            <a:extLst>
              <a:ext uri="{FF2B5EF4-FFF2-40B4-BE49-F238E27FC236}">
                <a16:creationId xmlns:a16="http://schemas.microsoft.com/office/drawing/2014/main" id="{8C8633DF-C1A7-2616-3680-9BD5AFA9C466}"/>
              </a:ext>
            </a:extLst>
          </p:cNvPr>
          <p:cNvSpPr txBox="1"/>
          <p:nvPr/>
        </p:nvSpPr>
        <p:spPr>
          <a:xfrm>
            <a:off x="3571875" y="5620912"/>
            <a:ext cx="8510858" cy="1200329"/>
          </a:xfrm>
          <a:prstGeom prst="rect">
            <a:avLst/>
          </a:prstGeom>
          <a:noFill/>
        </p:spPr>
        <p:txBody>
          <a:bodyPr wrap="square">
            <a:spAutoFit/>
          </a:bodyPr>
          <a:lstStyle/>
          <a:p>
            <a:r>
              <a:rPr lang="en-GB" b="1" dirty="0">
                <a:highlight>
                  <a:srgbClr val="FFFF00"/>
                </a:highlight>
              </a:rPr>
              <a:t>Story (after the visual):</a:t>
            </a:r>
            <a:br>
              <a:rPr lang="en-GB" dirty="0">
                <a:highlight>
                  <a:srgbClr val="FFFF00"/>
                </a:highlight>
              </a:rPr>
            </a:br>
            <a:r>
              <a:rPr lang="en-GB" dirty="0">
                <a:highlight>
                  <a:srgbClr val="FFFF00"/>
                </a:highlight>
              </a:rPr>
              <a:t>“Although Friday has the highest number of flights, it records the lowest delays.</a:t>
            </a:r>
            <a:br>
              <a:rPr lang="en-GB" dirty="0">
                <a:highlight>
                  <a:srgbClr val="FFFF00"/>
                </a:highlight>
              </a:rPr>
            </a:br>
            <a:r>
              <a:rPr lang="en-GB" dirty="0">
                <a:highlight>
                  <a:srgbClr val="FFFF00"/>
                </a:highlight>
              </a:rPr>
              <a:t>Sunday, despite lower traffic, experiences the highest delays—indicating recovery challenges rather than capacity issues.”</a:t>
            </a:r>
            <a:endParaRPr lang="en-AT" dirty="0">
              <a:highlight>
                <a:srgbClr val="FFFF00"/>
              </a:highlight>
            </a:endParaRPr>
          </a:p>
        </p:txBody>
      </p:sp>
    </p:spTree>
    <p:extLst>
      <p:ext uri="{BB962C8B-B14F-4D97-AF65-F5344CB8AC3E}">
        <p14:creationId xmlns:p14="http://schemas.microsoft.com/office/powerpoint/2010/main" val="3914982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4C4673-0B0A-9645-1052-F3492E96A8B8}"/>
              </a:ext>
            </a:extLst>
          </p:cNvPr>
          <p:cNvSpPr txBox="1"/>
          <p:nvPr/>
        </p:nvSpPr>
        <p:spPr>
          <a:xfrm>
            <a:off x="219075" y="441901"/>
            <a:ext cx="11668125" cy="5663089"/>
          </a:xfrm>
          <a:prstGeom prst="rect">
            <a:avLst/>
          </a:prstGeom>
          <a:noFill/>
          <a:effectLst>
            <a:outerShdw blurRad="50800" dist="38100" dir="5400000" algn="t" rotWithShape="0">
              <a:prstClr val="black">
                <a:alpha val="40000"/>
              </a:prstClr>
            </a:outerShdw>
          </a:effectLst>
        </p:spPr>
        <p:txBody>
          <a:bodyPr wrap="square">
            <a:spAutoFit/>
          </a:bodyPr>
          <a:lstStyle/>
          <a:p>
            <a:pPr>
              <a:buNone/>
            </a:pPr>
            <a:r>
              <a:rPr lang="en-GB" sz="1600" b="1" dirty="0"/>
              <a:t>Combined Insight (Very Important for Presentation)</a:t>
            </a:r>
          </a:p>
          <a:p>
            <a:pPr>
              <a:buNone/>
            </a:pPr>
            <a:r>
              <a:rPr lang="en-GB" sz="1600" b="1" dirty="0"/>
              <a:t>High traffic does not automatically mean high delays.</a:t>
            </a:r>
            <a:endParaRPr lang="en-AT" sz="1600" b="1" dirty="0"/>
          </a:p>
          <a:p>
            <a:pPr>
              <a:buNone/>
            </a:pPr>
            <a:endParaRPr lang="en-GB" sz="1600" dirty="0"/>
          </a:p>
          <a:p>
            <a:pPr>
              <a:buFont typeface="Arial" panose="020B0604020202020204" pitchFamily="34" charset="0"/>
              <a:buChar char="•"/>
            </a:pPr>
            <a:r>
              <a:rPr lang="en-GB" sz="1400" dirty="0"/>
              <a:t>Lufthansa performs </a:t>
            </a:r>
            <a:r>
              <a:rPr lang="en-GB" sz="1400" b="1" dirty="0"/>
              <a:t>operationally strongest on Fridays</a:t>
            </a:r>
            <a:r>
              <a:rPr lang="en-GB" sz="1400" dirty="0"/>
              <a:t>, managing the highest traffic with comparatively fewer delays.</a:t>
            </a:r>
            <a:endParaRPr lang="en-AT" sz="1400" dirty="0"/>
          </a:p>
          <a:p>
            <a:endParaRPr lang="en-GB" sz="1400" dirty="0"/>
          </a:p>
          <a:p>
            <a:pPr>
              <a:buFont typeface="Arial" panose="020B0604020202020204" pitchFamily="34" charset="0"/>
              <a:buChar char="•"/>
            </a:pPr>
            <a:r>
              <a:rPr lang="en-GB" sz="1400" b="1" dirty="0"/>
              <a:t>Sundays represent a risk day</a:t>
            </a:r>
            <a:r>
              <a:rPr lang="en-GB" sz="1400" dirty="0"/>
              <a:t>, where fewer flights still result in more delays—suggesting:</a:t>
            </a:r>
          </a:p>
          <a:p>
            <a:pPr marL="742950" lvl="1" indent="-285750">
              <a:buFont typeface="Arial" panose="020B0604020202020204" pitchFamily="34" charset="0"/>
              <a:buChar char="•"/>
            </a:pPr>
            <a:r>
              <a:rPr lang="en-GB" sz="1400" dirty="0"/>
              <a:t>tighter turnaround buffers,</a:t>
            </a:r>
          </a:p>
          <a:p>
            <a:pPr marL="742950" lvl="1" indent="-285750">
              <a:buFont typeface="Arial" panose="020B0604020202020204" pitchFamily="34" charset="0"/>
              <a:buChar char="•"/>
            </a:pPr>
            <a:r>
              <a:rPr lang="en-GB" sz="1400" dirty="0"/>
              <a:t>accumulated delays from the week,</a:t>
            </a:r>
          </a:p>
          <a:p>
            <a:pPr marL="742950" lvl="1" indent="-285750">
              <a:buFont typeface="Arial" panose="020B0604020202020204" pitchFamily="34" charset="0"/>
              <a:buChar char="•"/>
            </a:pPr>
            <a:r>
              <a:rPr lang="en-GB" sz="1400" dirty="0"/>
              <a:t>limited recovery windows before the new week begins.</a:t>
            </a:r>
          </a:p>
          <a:p>
            <a:pPr>
              <a:buNone/>
            </a:pPr>
            <a:br>
              <a:rPr lang="en-GB" sz="1400" dirty="0"/>
            </a:br>
            <a:endParaRPr lang="en-GB" sz="1400" dirty="0"/>
          </a:p>
          <a:p>
            <a:pPr>
              <a:buNone/>
            </a:pPr>
            <a:r>
              <a:rPr lang="en-GB" sz="1600" b="1" dirty="0"/>
              <a:t>Business Impact &amp; Recommendations</a:t>
            </a:r>
            <a:endParaRPr lang="en-AT" sz="1600" b="1" dirty="0"/>
          </a:p>
          <a:p>
            <a:pPr>
              <a:buNone/>
            </a:pPr>
            <a:r>
              <a:rPr lang="en-GB" sz="1600" b="1" dirty="0"/>
              <a:t>Operational Insight:</a:t>
            </a:r>
            <a:endParaRPr lang="en-AT" sz="1600" b="1" dirty="0"/>
          </a:p>
          <a:p>
            <a:pPr>
              <a:buNone/>
            </a:pPr>
            <a:endParaRPr lang="en-GB" sz="1600" dirty="0"/>
          </a:p>
          <a:p>
            <a:pPr>
              <a:buFont typeface="Arial" panose="020B0604020202020204" pitchFamily="34" charset="0"/>
              <a:buChar char="•"/>
            </a:pPr>
            <a:r>
              <a:rPr lang="en-GB" sz="1400" dirty="0"/>
              <a:t>Fridays demonstrate best-practice scheduling and buffer management.</a:t>
            </a:r>
          </a:p>
          <a:p>
            <a:pPr>
              <a:buFont typeface="Arial" panose="020B0604020202020204" pitchFamily="34" charset="0"/>
              <a:buChar char="•"/>
            </a:pPr>
            <a:r>
              <a:rPr lang="en-GB" sz="1400" dirty="0"/>
              <a:t>Sundays expose systemic recovery and turnaround inefficiencies.</a:t>
            </a:r>
            <a:endParaRPr lang="en-AT" sz="1400" dirty="0"/>
          </a:p>
          <a:p>
            <a:endParaRPr lang="en-GB" sz="1400" dirty="0"/>
          </a:p>
          <a:p>
            <a:pPr>
              <a:buNone/>
            </a:pPr>
            <a:r>
              <a:rPr lang="en-GB" sz="1400" dirty="0"/>
              <a:t>Actionable Recommendations:</a:t>
            </a:r>
          </a:p>
          <a:p>
            <a:pPr>
              <a:buFont typeface="Arial" panose="020B0604020202020204" pitchFamily="34" charset="0"/>
              <a:buChar char="•"/>
            </a:pPr>
            <a:r>
              <a:rPr lang="en-GB" sz="1400" dirty="0"/>
              <a:t>Reallocate buffer time, crew availability, and ground resources toward Sunday operations.</a:t>
            </a:r>
          </a:p>
          <a:p>
            <a:pPr>
              <a:buFont typeface="Arial" panose="020B0604020202020204" pitchFamily="34" charset="0"/>
              <a:buChar char="•"/>
            </a:pPr>
            <a:r>
              <a:rPr lang="en-GB" sz="1400" dirty="0"/>
              <a:t>Apply Friday-style scheduling discipline to weekend operations.</a:t>
            </a:r>
          </a:p>
          <a:p>
            <a:pPr>
              <a:buFont typeface="Arial" panose="020B0604020202020204" pitchFamily="34" charset="0"/>
              <a:buChar char="•"/>
            </a:pPr>
            <a:r>
              <a:rPr lang="en-GB" sz="1400" dirty="0"/>
              <a:t>Focus improvement efforts on day-level planning, not just peak-hour optimization.</a:t>
            </a:r>
            <a:endParaRPr lang="en-AT" sz="1400" dirty="0"/>
          </a:p>
          <a:p>
            <a:endParaRPr lang="en-GB" sz="1400" dirty="0"/>
          </a:p>
          <a:p>
            <a:pPr>
              <a:buNone/>
            </a:pPr>
            <a:r>
              <a:rPr lang="en-GB" sz="1400" dirty="0"/>
              <a:t>Strategic Value:</a:t>
            </a:r>
          </a:p>
          <a:p>
            <a:pPr>
              <a:buFont typeface="Arial" panose="020B0604020202020204" pitchFamily="34" charset="0"/>
              <a:buChar char="•"/>
            </a:pPr>
            <a:r>
              <a:rPr lang="en-GB" sz="1400" dirty="0"/>
              <a:t>Small operational improvements on Sundays can significantly reduce weekly delay totals.</a:t>
            </a:r>
          </a:p>
          <a:p>
            <a:pPr>
              <a:buFont typeface="Arial" panose="020B0604020202020204" pitchFamily="34" charset="0"/>
              <a:buChar char="•"/>
            </a:pPr>
            <a:r>
              <a:rPr lang="en-GB" sz="1400" dirty="0"/>
              <a:t>Better recovery planning improves on-time performance without increasing capacity.</a:t>
            </a:r>
          </a:p>
        </p:txBody>
      </p:sp>
      <p:pic>
        <p:nvPicPr>
          <p:cNvPr id="4" name="Picture 3">
            <a:extLst>
              <a:ext uri="{FF2B5EF4-FFF2-40B4-BE49-F238E27FC236}">
                <a16:creationId xmlns:a16="http://schemas.microsoft.com/office/drawing/2014/main" id="{21943587-2EE9-19E1-E36E-FC0CB32CA3BF}"/>
              </a:ext>
            </a:extLst>
          </p:cNvPr>
          <p:cNvPicPr>
            <a:picLocks noChangeAspect="1"/>
          </p:cNvPicPr>
          <p:nvPr/>
        </p:nvPicPr>
        <p:blipFill>
          <a:blip r:embed="rId2"/>
          <a:stretch>
            <a:fillRect/>
          </a:stretch>
        </p:blipFill>
        <p:spPr>
          <a:xfrm>
            <a:off x="7519717" y="1576149"/>
            <a:ext cx="2405333" cy="2121657"/>
          </a:xfrm>
          <a:prstGeom prst="rect">
            <a:avLst/>
          </a:prstGeom>
          <a:scene3d>
            <a:camera prst="perspectiveHeroicExtremeLeftFacing"/>
            <a:lightRig rig="threePt" dir="t"/>
          </a:scene3d>
        </p:spPr>
        <p:style>
          <a:lnRef idx="2">
            <a:schemeClr val="accent4"/>
          </a:lnRef>
          <a:fillRef idx="1">
            <a:schemeClr val="lt1"/>
          </a:fillRef>
          <a:effectRef idx="0">
            <a:schemeClr val="accent4"/>
          </a:effectRef>
          <a:fontRef idx="minor">
            <a:schemeClr val="dk1"/>
          </a:fontRef>
        </p:style>
      </p:pic>
      <p:pic>
        <p:nvPicPr>
          <p:cNvPr id="5" name="Picture 4">
            <a:extLst>
              <a:ext uri="{FF2B5EF4-FFF2-40B4-BE49-F238E27FC236}">
                <a16:creationId xmlns:a16="http://schemas.microsoft.com/office/drawing/2014/main" id="{0353EE38-6DB3-FA67-532F-7583B43439BB}"/>
              </a:ext>
            </a:extLst>
          </p:cNvPr>
          <p:cNvPicPr>
            <a:picLocks noChangeAspect="1"/>
          </p:cNvPicPr>
          <p:nvPr/>
        </p:nvPicPr>
        <p:blipFill>
          <a:blip r:embed="rId3"/>
          <a:stretch>
            <a:fillRect/>
          </a:stretch>
        </p:blipFill>
        <p:spPr>
          <a:xfrm>
            <a:off x="7567342" y="3811006"/>
            <a:ext cx="2300558" cy="2451919"/>
          </a:xfrm>
          <a:prstGeom prst="rect">
            <a:avLst/>
          </a:prstGeom>
          <a:scene3d>
            <a:camera prst="isometricOffAxis1Right"/>
            <a:lightRig rig="threePt" dir="t"/>
          </a:scene3d>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2271514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1" name="Arc 4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4" name="Picture 33" descr="Plane on tarmac">
            <a:extLst>
              <a:ext uri="{FF2B5EF4-FFF2-40B4-BE49-F238E27FC236}">
                <a16:creationId xmlns:a16="http://schemas.microsoft.com/office/drawing/2014/main" id="{33302292-5ABB-4122-5513-FEF708830C12}"/>
              </a:ext>
            </a:extLst>
          </p:cNvPr>
          <p:cNvPicPr>
            <a:picLocks noChangeAspect="1"/>
          </p:cNvPicPr>
          <p:nvPr/>
        </p:nvPicPr>
        <p:blipFill>
          <a:blip r:embed="rId2"/>
          <a:srcRect l="37121" r="11302" b="-1"/>
          <a:stretch>
            <a:fillRect/>
          </a:stretch>
        </p:blipFill>
        <p:spPr>
          <a:xfrm>
            <a:off x="902994" y="511293"/>
            <a:ext cx="4377757"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TextBox 2">
            <a:extLst>
              <a:ext uri="{FF2B5EF4-FFF2-40B4-BE49-F238E27FC236}">
                <a16:creationId xmlns:a16="http://schemas.microsoft.com/office/drawing/2014/main" id="{BA9DFD05-9EC4-105C-E6FC-F2B6AEF5FB2B}"/>
              </a:ext>
            </a:extLst>
          </p:cNvPr>
          <p:cNvSpPr txBox="1"/>
          <p:nvPr/>
        </p:nvSpPr>
        <p:spPr>
          <a:xfrm>
            <a:off x="5894962" y="790575"/>
            <a:ext cx="5458838" cy="5386388"/>
          </a:xfrm>
          <a:prstGeom prst="rect">
            <a:avLst/>
          </a:prstGeom>
        </p:spPr>
        <p:txBody>
          <a:bodyPr vert="horz" lIns="91440" tIns="45720" rIns="91440" bIns="45720" rtlCol="0">
            <a:noAutofit/>
          </a:bodyPr>
          <a:lstStyle/>
          <a:p>
            <a:pPr algn="ctr">
              <a:lnSpc>
                <a:spcPct val="90000"/>
              </a:lnSpc>
              <a:spcBef>
                <a:spcPct val="20000"/>
              </a:spcBef>
              <a:spcAft>
                <a:spcPts val="600"/>
              </a:spcAft>
              <a:buClr>
                <a:schemeClr val="accent1">
                  <a:lumMod val="75000"/>
                </a:schemeClr>
              </a:buClr>
              <a:buSzPct val="145000"/>
            </a:pPr>
            <a:r>
              <a:rPr lang="en-US" sz="1200" b="1" dirty="0"/>
              <a:t>Storytelling</a:t>
            </a:r>
          </a:p>
          <a:p>
            <a:pPr algn="ctr">
              <a:lnSpc>
                <a:spcPct val="90000"/>
              </a:lnSpc>
              <a:spcBef>
                <a:spcPct val="20000"/>
              </a:spcBef>
              <a:spcAft>
                <a:spcPts val="600"/>
              </a:spcAft>
              <a:buClr>
                <a:schemeClr val="accent1">
                  <a:lumMod val="75000"/>
                </a:schemeClr>
              </a:buClr>
              <a:buSzPct val="145000"/>
            </a:pPr>
            <a:r>
              <a:rPr lang="en-US" sz="1200" b="1" dirty="0"/>
              <a:t>Lufthansa Airlines</a:t>
            </a:r>
          </a:p>
          <a:p>
            <a:pPr indent="-228600">
              <a:lnSpc>
                <a:spcPct val="90000"/>
              </a:lnSpc>
              <a:spcBef>
                <a:spcPct val="20000"/>
              </a:spcBef>
              <a:spcAft>
                <a:spcPts val="600"/>
              </a:spcAft>
              <a:buClr>
                <a:schemeClr val="accent1">
                  <a:lumMod val="75000"/>
                </a:schemeClr>
              </a:buClr>
              <a:buSzPct val="145000"/>
              <a:buFont typeface="Arial" panose="020B0604020202020204" pitchFamily="34" charset="0"/>
              <a:buChar char="•"/>
            </a:pPr>
            <a:endParaRPr lang="en-US" sz="1200" b="1" dirty="0"/>
          </a:p>
          <a:p>
            <a:pPr indent="-228600">
              <a:lnSpc>
                <a:spcPct val="90000"/>
              </a:lnSpc>
              <a:spcBef>
                <a:spcPct val="20000"/>
              </a:spcBef>
              <a:spcAft>
                <a:spcPts val="600"/>
              </a:spcAft>
              <a:buClr>
                <a:schemeClr val="accent1">
                  <a:lumMod val="75000"/>
                </a:schemeClr>
              </a:buClr>
              <a:buSzPct val="145000"/>
              <a:buFont typeface="Arial" panose="020B0604020202020204" pitchFamily="34" charset="0"/>
              <a:buChar char="•"/>
            </a:pPr>
            <a:r>
              <a:rPr lang="en-US" sz="1200" dirty="0"/>
              <a:t>This project analyzed flight delays and cancellations at Lufthansa Airlines using Power BI to understand </a:t>
            </a:r>
            <a:r>
              <a:rPr lang="en-US" sz="1200" b="1" dirty="0"/>
              <a:t>when</a:t>
            </a:r>
            <a:r>
              <a:rPr lang="en-US" sz="1200" dirty="0"/>
              <a:t>, </a:t>
            </a:r>
            <a:r>
              <a:rPr lang="en-US" sz="1200" b="1" dirty="0"/>
              <a:t>why</a:t>
            </a:r>
            <a:r>
              <a:rPr lang="en-US" sz="1200" dirty="0"/>
              <a:t>, and </a:t>
            </a:r>
            <a:r>
              <a:rPr lang="en-US" sz="1200" b="1" dirty="0"/>
              <a:t>where</a:t>
            </a:r>
            <a:r>
              <a:rPr lang="en-US" sz="1200" dirty="0"/>
              <a:t> operational disruptions occur, and how effectively they are absorbed before impacting passengers.</a:t>
            </a:r>
          </a:p>
          <a:p>
            <a:pPr indent="-228600">
              <a:lnSpc>
                <a:spcPct val="90000"/>
              </a:lnSpc>
              <a:spcBef>
                <a:spcPct val="20000"/>
              </a:spcBef>
              <a:spcAft>
                <a:spcPts val="600"/>
              </a:spcAft>
              <a:buClr>
                <a:schemeClr val="accent1">
                  <a:lumMod val="75000"/>
                </a:schemeClr>
              </a:buClr>
              <a:buSzPct val="145000"/>
              <a:buFont typeface="Arial" panose="020B0604020202020204" pitchFamily="34" charset="0"/>
              <a:buChar char="•"/>
            </a:pPr>
            <a:r>
              <a:rPr lang="en-US" sz="1200" dirty="0"/>
              <a:t>The analysis shows that </a:t>
            </a:r>
            <a:r>
              <a:rPr lang="en-US" sz="1200" b="1" dirty="0"/>
              <a:t>high traffic volume does not automatically lead to high delays</a:t>
            </a:r>
            <a:r>
              <a:rPr lang="en-US" sz="1200" dirty="0"/>
              <a:t>.</a:t>
            </a:r>
            <a:br>
              <a:rPr lang="en-US" sz="1200" dirty="0"/>
            </a:br>
            <a:r>
              <a:rPr lang="en-US" sz="1200" dirty="0"/>
              <a:t>Lufthansa performs operationally strongest on </a:t>
            </a:r>
            <a:r>
              <a:rPr lang="en-US" sz="1200" b="1" dirty="0"/>
              <a:t>Fridays</a:t>
            </a:r>
            <a:r>
              <a:rPr lang="en-US" sz="1200" dirty="0"/>
              <a:t>, handling the highest number of flights with the </a:t>
            </a:r>
            <a:r>
              <a:rPr lang="en-US" sz="1200" b="1" dirty="0"/>
              <a:t>lowest delay impact</a:t>
            </a:r>
            <a:r>
              <a:rPr lang="en-US" sz="1200" dirty="0"/>
              <a:t>, indicating strong scheduling discipline and buffer management.</a:t>
            </a:r>
          </a:p>
          <a:p>
            <a:pPr indent="-228600">
              <a:lnSpc>
                <a:spcPct val="90000"/>
              </a:lnSpc>
              <a:spcBef>
                <a:spcPct val="20000"/>
              </a:spcBef>
              <a:spcAft>
                <a:spcPts val="600"/>
              </a:spcAft>
              <a:buClr>
                <a:schemeClr val="accent1">
                  <a:lumMod val="75000"/>
                </a:schemeClr>
              </a:buClr>
              <a:buSzPct val="145000"/>
              <a:buFont typeface="Arial" panose="020B0604020202020204" pitchFamily="34" charset="0"/>
              <a:buChar char="•"/>
            </a:pPr>
            <a:r>
              <a:rPr lang="en-US" sz="1200" dirty="0"/>
              <a:t>In contrast, </a:t>
            </a:r>
            <a:r>
              <a:rPr lang="en-US" sz="1200" b="1" dirty="0"/>
              <a:t>Sundays emerge as a risk day</a:t>
            </a:r>
            <a:r>
              <a:rPr lang="en-US" sz="1200" dirty="0"/>
              <a:t>. Despite lower flight volumes, Sundays experience </a:t>
            </a:r>
            <a:r>
              <a:rPr lang="en-US" sz="1200" b="1" dirty="0"/>
              <a:t>the highest number of delayed flights</a:t>
            </a:r>
            <a:r>
              <a:rPr lang="en-US" sz="1200" dirty="0"/>
              <a:t>, suggesting accumulated disruptions, tighter recovery windows, and reduced operational flexibility at the end of the weekly cycle.</a:t>
            </a:r>
          </a:p>
          <a:p>
            <a:pPr indent="-228600">
              <a:lnSpc>
                <a:spcPct val="90000"/>
              </a:lnSpc>
              <a:spcBef>
                <a:spcPct val="20000"/>
              </a:spcBef>
              <a:spcAft>
                <a:spcPts val="600"/>
              </a:spcAft>
              <a:buClr>
                <a:schemeClr val="accent1">
                  <a:lumMod val="75000"/>
                </a:schemeClr>
              </a:buClr>
              <a:buSzPct val="145000"/>
              <a:buFont typeface="Arial" panose="020B0604020202020204" pitchFamily="34" charset="0"/>
              <a:buChar char="•"/>
            </a:pPr>
            <a:r>
              <a:rPr lang="en-US" sz="1200" dirty="0"/>
              <a:t>A key insight is the </a:t>
            </a:r>
            <a:r>
              <a:rPr lang="en-US" sz="1200" b="1" dirty="0"/>
              <a:t>large gap between internal process delay minutes and actual passenger delay minutes</a:t>
            </a:r>
            <a:r>
              <a:rPr lang="en-US" sz="1200" dirty="0"/>
              <a:t>.</a:t>
            </a:r>
            <a:br>
              <a:rPr lang="en-US" sz="1200" dirty="0"/>
            </a:br>
            <a:r>
              <a:rPr lang="en-US" sz="1200" dirty="0"/>
              <a:t>Although Lufthansa records over </a:t>
            </a:r>
            <a:r>
              <a:rPr lang="en-US" sz="1200" b="1" dirty="0"/>
              <a:t>170,000 minutes of internal process delays</a:t>
            </a:r>
            <a:r>
              <a:rPr lang="en-US" sz="1200" dirty="0"/>
              <a:t>, only about </a:t>
            </a:r>
            <a:r>
              <a:rPr lang="en-US" sz="1200" b="1" dirty="0"/>
              <a:t>35,000 minutes</a:t>
            </a:r>
            <a:r>
              <a:rPr lang="en-US" sz="1200" dirty="0"/>
              <a:t> translate into real passenger delays. This demonstrates a </a:t>
            </a:r>
            <a:r>
              <a:rPr lang="en-US" sz="1200" b="1" dirty="0"/>
              <a:t>strong delay-absorption capability</a:t>
            </a:r>
            <a:r>
              <a:rPr lang="en-US" sz="1200" dirty="0"/>
              <a:t> through buffer times, schedule flexibility, and recovery mechanisms.</a:t>
            </a:r>
          </a:p>
          <a:p>
            <a:pPr indent="-228600">
              <a:lnSpc>
                <a:spcPct val="90000"/>
              </a:lnSpc>
              <a:spcBef>
                <a:spcPct val="20000"/>
              </a:spcBef>
              <a:spcAft>
                <a:spcPts val="600"/>
              </a:spcAft>
              <a:buClr>
                <a:schemeClr val="accent1">
                  <a:lumMod val="75000"/>
                </a:schemeClr>
              </a:buClr>
              <a:buSzPct val="145000"/>
              <a:buFont typeface="Arial" panose="020B0604020202020204" pitchFamily="34" charset="0"/>
              <a:buChar char="•"/>
            </a:pPr>
            <a:r>
              <a:rPr lang="en-US" sz="1200" dirty="0"/>
              <a:t>Cancellation analysis further reinforces this strength.</a:t>
            </a:r>
            <a:br>
              <a:rPr lang="en-US" sz="1200" dirty="0"/>
            </a:br>
            <a:r>
              <a:rPr lang="en-US" sz="1200" dirty="0"/>
              <a:t>Out of </a:t>
            </a:r>
            <a:r>
              <a:rPr lang="en-US" sz="1200" b="1" dirty="0"/>
              <a:t>1,680 flights</a:t>
            </a:r>
            <a:r>
              <a:rPr lang="en-US" sz="1200" dirty="0"/>
              <a:t>, only </a:t>
            </a:r>
            <a:r>
              <a:rPr lang="en-US" sz="1200" b="1" dirty="0"/>
              <a:t>128 flights (7.62%) were cancelled</a:t>
            </a:r>
            <a:r>
              <a:rPr lang="en-US" sz="1200" dirty="0"/>
              <a:t>, while </a:t>
            </a:r>
            <a:r>
              <a:rPr lang="en-US" sz="1200" b="1" dirty="0"/>
              <a:t>22.26% experienced delays</a:t>
            </a:r>
            <a:r>
              <a:rPr lang="en-US" sz="1200" dirty="0"/>
              <a:t>. This indicates that Lufthansa prioritizes </a:t>
            </a:r>
            <a:r>
              <a:rPr lang="en-US" sz="1200" b="1" dirty="0"/>
              <a:t>delay recovery over flight cancellations</a:t>
            </a:r>
            <a:r>
              <a:rPr lang="en-US" sz="1200" dirty="0"/>
              <a:t>, protecting customer trust and minimizing high-cost disruption events.</a:t>
            </a:r>
          </a:p>
          <a:p>
            <a:pPr indent="-228600">
              <a:lnSpc>
                <a:spcPct val="90000"/>
              </a:lnSpc>
              <a:spcBef>
                <a:spcPct val="20000"/>
              </a:spcBef>
              <a:spcAft>
                <a:spcPts val="600"/>
              </a:spcAft>
              <a:buClr>
                <a:schemeClr val="accent1">
                  <a:lumMod val="75000"/>
                </a:schemeClr>
              </a:buClr>
              <a:buSzPct val="145000"/>
              <a:buFont typeface="Arial" panose="020B0604020202020204" pitchFamily="34" charset="0"/>
              <a:buChar char="•"/>
            </a:pPr>
            <a:r>
              <a:rPr lang="en-US" sz="1200" dirty="0"/>
              <a:t>Overall, the findings confirm that Lufthansa’s delays are </a:t>
            </a:r>
            <a:r>
              <a:rPr lang="en-US" sz="1200" b="1" dirty="0"/>
              <a:t>systemic and pattern-based</a:t>
            </a:r>
            <a:r>
              <a:rPr lang="en-US" sz="1200" dirty="0"/>
              <a:t>, not driven by isolated operational failures, and that </a:t>
            </a:r>
            <a:r>
              <a:rPr lang="en-US" sz="1200" b="1" dirty="0"/>
              <a:t>process optimization offers higher impact than reactive fixes</a:t>
            </a:r>
            <a:r>
              <a:rPr lang="en-US" sz="1200" dirty="0"/>
              <a:t>.</a:t>
            </a:r>
          </a:p>
        </p:txBody>
      </p:sp>
    </p:spTree>
    <p:extLst>
      <p:ext uri="{BB962C8B-B14F-4D97-AF65-F5344CB8AC3E}">
        <p14:creationId xmlns:p14="http://schemas.microsoft.com/office/powerpoint/2010/main" val="28750919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934032-AEBE-7F11-563C-8EE270CD83C0}"/>
              </a:ext>
            </a:extLst>
          </p:cNvPr>
          <p:cNvSpPr txBox="1"/>
          <p:nvPr/>
        </p:nvSpPr>
        <p:spPr>
          <a:xfrm>
            <a:off x="1762125" y="196572"/>
            <a:ext cx="8648700" cy="6155531"/>
          </a:xfrm>
          <a:prstGeom prst="rect">
            <a:avLst/>
          </a:prstGeom>
          <a:noFill/>
          <a:effectLst>
            <a:outerShdw blurRad="50800" dist="38100" dir="2700000" algn="tl" rotWithShape="0">
              <a:prstClr val="black">
                <a:alpha val="40000"/>
              </a:prstClr>
            </a:outerShdw>
          </a:effectLst>
        </p:spPr>
        <p:txBody>
          <a:bodyPr wrap="square">
            <a:spAutoFit/>
          </a:bodyPr>
          <a:lstStyle/>
          <a:p>
            <a:pPr>
              <a:buNone/>
            </a:pPr>
            <a:r>
              <a:rPr lang="en-GB" sz="1600" b="1" dirty="0"/>
              <a:t>Business Recommendations</a:t>
            </a:r>
            <a:r>
              <a:rPr lang="en-AT" sz="1600" b="1" dirty="0"/>
              <a:t>:</a:t>
            </a:r>
          </a:p>
          <a:p>
            <a:pPr>
              <a:buNone/>
            </a:pPr>
            <a:endParaRPr lang="en-GB" sz="1400" b="1" dirty="0"/>
          </a:p>
          <a:p>
            <a:pPr>
              <a:buNone/>
            </a:pPr>
            <a:r>
              <a:rPr lang="en-GB" sz="1400" dirty="0"/>
              <a:t>1. Strengthen Sunday Operations</a:t>
            </a:r>
          </a:p>
          <a:p>
            <a:pPr>
              <a:buFont typeface="Arial" panose="020B0604020202020204" pitchFamily="34" charset="0"/>
              <a:buChar char="•"/>
            </a:pPr>
            <a:r>
              <a:rPr lang="en-GB" sz="1400" dirty="0"/>
              <a:t>Reallocate buffer time, crew availability, and ground resources toward Sunday schedules</a:t>
            </a:r>
          </a:p>
          <a:p>
            <a:pPr>
              <a:buFont typeface="Arial" panose="020B0604020202020204" pitchFamily="34" charset="0"/>
              <a:buChar char="•"/>
            </a:pPr>
            <a:r>
              <a:rPr lang="en-GB" sz="1400" dirty="0"/>
              <a:t>Apply Friday-level recovery discipline to weekend operations</a:t>
            </a:r>
            <a:endParaRPr lang="en-AT" sz="1400" dirty="0"/>
          </a:p>
          <a:p>
            <a:endParaRPr lang="en-GB" sz="1400" dirty="0"/>
          </a:p>
          <a:p>
            <a:pPr>
              <a:buNone/>
            </a:pPr>
            <a:r>
              <a:rPr lang="en-GB" sz="1400" dirty="0"/>
              <a:t>2. Focus on Process-Level Optimization</a:t>
            </a:r>
          </a:p>
          <a:p>
            <a:pPr>
              <a:buFont typeface="Arial" panose="020B0604020202020204" pitchFamily="34" charset="0"/>
              <a:buChar char="•"/>
            </a:pPr>
            <a:r>
              <a:rPr lang="en-GB" sz="1400" dirty="0"/>
              <a:t>Prioritize turnaround, ground handling, and crew coordination improvements</a:t>
            </a:r>
          </a:p>
          <a:p>
            <a:pPr>
              <a:buFont typeface="Arial" panose="020B0604020202020204" pitchFamily="34" charset="0"/>
              <a:buChar char="•"/>
            </a:pPr>
            <a:r>
              <a:rPr lang="en-GB" sz="1400" dirty="0"/>
              <a:t>Small reductions in process delays can significantly lower overall delay exposure</a:t>
            </a:r>
            <a:endParaRPr lang="en-AT" sz="1400" dirty="0"/>
          </a:p>
          <a:p>
            <a:endParaRPr lang="en-GB" sz="1400" dirty="0"/>
          </a:p>
          <a:p>
            <a:pPr>
              <a:buNone/>
            </a:pPr>
            <a:r>
              <a:rPr lang="en-GB" sz="1400" dirty="0"/>
              <a:t>3. Optimize Wide-Body Aircraft Operations</a:t>
            </a:r>
          </a:p>
          <a:p>
            <a:pPr>
              <a:buFont typeface="Arial" panose="020B0604020202020204" pitchFamily="34" charset="0"/>
              <a:buChar char="•"/>
            </a:pPr>
            <a:r>
              <a:rPr lang="en-GB" sz="1400" dirty="0"/>
              <a:t>Wide-body fleets (A350, B787, B777) generate the highest delay impact</a:t>
            </a:r>
          </a:p>
          <a:p>
            <a:pPr>
              <a:buFont typeface="Arial" panose="020B0604020202020204" pitchFamily="34" charset="0"/>
              <a:buChar char="•"/>
            </a:pPr>
            <a:r>
              <a:rPr lang="en-GB" sz="1400" dirty="0"/>
              <a:t>Improve long-haul turnaround planning and maintenance coordination</a:t>
            </a:r>
            <a:endParaRPr lang="en-AT" sz="1400" dirty="0"/>
          </a:p>
          <a:p>
            <a:endParaRPr lang="en-GB" sz="1400" dirty="0"/>
          </a:p>
          <a:p>
            <a:pPr>
              <a:buNone/>
            </a:pPr>
            <a:r>
              <a:rPr lang="en-GB" sz="1400" dirty="0"/>
              <a:t>4. Reduce Cancellations Further</a:t>
            </a:r>
          </a:p>
          <a:p>
            <a:pPr>
              <a:buFont typeface="Arial" panose="020B0604020202020204" pitchFamily="34" charset="0"/>
              <a:buChar char="•"/>
            </a:pPr>
            <a:r>
              <a:rPr lang="en-GB" sz="1400" dirty="0"/>
              <a:t>Each cancelled flight carries disproportionately high financial and reputational cost</a:t>
            </a:r>
          </a:p>
          <a:p>
            <a:pPr>
              <a:buFont typeface="Arial" panose="020B0604020202020204" pitchFamily="34" charset="0"/>
              <a:buChar char="•"/>
            </a:pPr>
            <a:r>
              <a:rPr lang="en-GB" sz="1400" dirty="0"/>
              <a:t>Even marginal cancellation reductions yield strong ROI and customer satisfaction gains</a:t>
            </a:r>
            <a:endParaRPr lang="en-AT" sz="1400" dirty="0"/>
          </a:p>
          <a:p>
            <a:endParaRPr lang="en-GB" sz="1400" dirty="0"/>
          </a:p>
          <a:p>
            <a:pPr>
              <a:buNone/>
            </a:pPr>
            <a:r>
              <a:rPr lang="en-GB" sz="1400" dirty="0"/>
              <a:t>5. Expand Advanced Analytics</a:t>
            </a:r>
          </a:p>
          <a:p>
            <a:pPr>
              <a:buFont typeface="Arial" panose="020B0604020202020204" pitchFamily="34" charset="0"/>
              <a:buChar char="•"/>
            </a:pPr>
            <a:r>
              <a:rPr lang="en-GB" sz="1400" dirty="0"/>
              <a:t>Use predictive analytics to identify high-risk days, aircraft types, and peak windows</a:t>
            </a:r>
          </a:p>
          <a:p>
            <a:r>
              <a:rPr lang="en-GB" sz="1400" dirty="0"/>
              <a:t>Support proactive disruption management instead of reactive recovery</a:t>
            </a:r>
            <a:endParaRPr lang="en-AT" sz="1400" dirty="0"/>
          </a:p>
          <a:p>
            <a:br>
              <a:rPr lang="en-AT" sz="1400" dirty="0"/>
            </a:br>
            <a:r>
              <a:rPr lang="en-GB" sz="1400" b="1" dirty="0"/>
              <a:t>Strategic Value for Lufthansa</a:t>
            </a:r>
          </a:p>
          <a:p>
            <a:pPr marL="285750" indent="-285750">
              <a:buFont typeface="Arial" panose="020B0604020202020204" pitchFamily="34" charset="0"/>
              <a:buChar char="•"/>
            </a:pPr>
            <a:r>
              <a:rPr lang="en-GB" sz="1400" dirty="0"/>
              <a:t>Improved on-time performance without increasing capacity</a:t>
            </a:r>
          </a:p>
          <a:p>
            <a:pPr marL="285750" indent="-285750">
              <a:buFont typeface="Arial" panose="020B0604020202020204" pitchFamily="34" charset="0"/>
              <a:buChar char="•"/>
            </a:pPr>
            <a:r>
              <a:rPr lang="en-GB" sz="1400" dirty="0"/>
              <a:t>Lower operational costs through targeted process improvements</a:t>
            </a:r>
          </a:p>
          <a:p>
            <a:pPr marL="285750" indent="-285750">
              <a:buFont typeface="Arial" panose="020B0604020202020204" pitchFamily="34" charset="0"/>
              <a:buChar char="•"/>
            </a:pPr>
            <a:r>
              <a:rPr lang="en-GB" sz="1400" dirty="0"/>
              <a:t>Stronger customer trust and brand reliability</a:t>
            </a:r>
          </a:p>
          <a:p>
            <a:pPr marL="285750" indent="-285750">
              <a:buFont typeface="Arial" panose="020B0604020202020204" pitchFamily="34" charset="0"/>
              <a:buChar char="•"/>
            </a:pPr>
            <a:r>
              <a:rPr lang="en-GB" sz="1400" dirty="0"/>
              <a:t>Better regulatory and compensation risk management</a:t>
            </a:r>
          </a:p>
          <a:p>
            <a:pPr>
              <a:buFont typeface="Arial" panose="020B0604020202020204" pitchFamily="34" charset="0"/>
              <a:buChar char="•"/>
            </a:pPr>
            <a:endParaRPr lang="en-GB" sz="1400" dirty="0"/>
          </a:p>
        </p:txBody>
      </p:sp>
    </p:spTree>
    <p:extLst>
      <p:ext uri="{BB962C8B-B14F-4D97-AF65-F5344CB8AC3E}">
        <p14:creationId xmlns:p14="http://schemas.microsoft.com/office/powerpoint/2010/main" val="4582829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3585</Words>
  <Application>Microsoft Office PowerPoint</Application>
  <PresentationFormat>Widescreen</PresentationFormat>
  <Paragraphs>282</Paragraphs>
  <Slides>23</Slides>
  <Notes>2</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Adobe Garamond Pro Bold</vt:lpstr>
      <vt:lpstr>Aptos</vt:lpstr>
      <vt:lpstr>Aptos Display</vt:lpstr>
      <vt:lpstr>Arial</vt:lpstr>
      <vt:lpstr>Calibri</vt:lpstr>
      <vt:lpstr>Courier New</vt:lpstr>
      <vt:lpstr>Symbol</vt:lpstr>
      <vt:lpstr>Wingdings</vt:lpstr>
      <vt:lpstr>Office Theme</vt:lpstr>
      <vt:lpstr>Say Yes to the World </vt:lpstr>
      <vt:lpstr>Data-Driven Analysis of Flight Delays and Cancellations at Lufthansa Airlines</vt:lpstr>
      <vt:lpstr>Project  Introduction</vt:lpstr>
      <vt:lpstr>Project Goals</vt:lpstr>
      <vt:lpstr>Key Achievements</vt:lpstr>
      <vt:lpstr>Key Findings &amp; Data Analysis Results Executive KPI Summary (Dashboard Overview) </vt:lpstr>
      <vt:lpstr>Project Goal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runa laila</dc:creator>
  <cp:lastModifiedBy>runa laila</cp:lastModifiedBy>
  <cp:revision>5</cp:revision>
  <dcterms:created xsi:type="dcterms:W3CDTF">2026-01-04T22:25:10Z</dcterms:created>
  <dcterms:modified xsi:type="dcterms:W3CDTF">2026-01-07T19:30:55Z</dcterms:modified>
</cp:coreProperties>
</file>